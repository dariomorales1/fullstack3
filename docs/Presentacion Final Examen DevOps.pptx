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Poppins" charset="1" panose="00000500000000000000"/>
      <p:regular r:id="rId21"/>
    </p:embeddedFont>
    <p:embeddedFont>
      <p:font typeface="Oswald Bold" charset="1" panose="00000800000000000000"/>
      <p:regular r:id="rId22"/>
    </p:embeddedFont>
    <p:embeddedFont>
      <p:font typeface="Poppins Bold" charset="1" panose="00000800000000000000"/>
      <p:regular r:id="rId23"/>
    </p:embeddedFont>
    <p:embeddedFont>
      <p:font typeface="Oswald" charset="1" panose="000005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media/image12.png" Type="http://schemas.openxmlformats.org/officeDocument/2006/relationships/image"/><Relationship Id="rId13" Target="../media/image13.svg" Type="http://schemas.openxmlformats.org/officeDocument/2006/relationships/image"/><Relationship Id="rId14" Target="../media/image14.png" Type="http://schemas.openxmlformats.org/officeDocument/2006/relationships/image"/><Relationship Id="rId15" Target="../media/image15.svg" Type="http://schemas.openxmlformats.org/officeDocument/2006/relationships/image"/><Relationship Id="rId16" Target="../media/image16.png" Type="http://schemas.openxmlformats.org/officeDocument/2006/relationships/image"/><Relationship Id="rId17" Target="../media/image17.svg" Type="http://schemas.openxmlformats.org/officeDocument/2006/relationships/image"/><Relationship Id="rId18" Target="../media/image18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0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4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5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7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8.jpeg" Type="http://schemas.openxmlformats.org/officeDocument/2006/relationships/image"/><Relationship Id="rId5" Target="../media/image29.png" Type="http://schemas.openxmlformats.org/officeDocument/2006/relationships/image"/><Relationship Id="rId6" Target="../media/image30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80009" y="-1519728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95454" y="6826250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22033" y="6792142"/>
            <a:ext cx="6121016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Grupo Cordillera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729095" y="1041641"/>
            <a:ext cx="3530205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Evaluación Parcial N°3</a:t>
            </a:r>
          </a:p>
        </p:txBody>
      </p:sp>
      <p:sp>
        <p:nvSpPr>
          <p:cNvPr name="AutoShape 6" id="6"/>
          <p:cNvSpPr/>
          <p:nvPr/>
        </p:nvSpPr>
        <p:spPr>
          <a:xfrm>
            <a:off x="1322033" y="7299371"/>
            <a:ext cx="6492240" cy="0"/>
          </a:xfrm>
          <a:prstGeom prst="line">
            <a:avLst/>
          </a:prstGeom>
          <a:ln cap="flat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8401626" y="3211170"/>
            <a:ext cx="8564342" cy="3864659"/>
          </a:xfrm>
          <a:custGeom>
            <a:avLst/>
            <a:gdLst/>
            <a:ahLst/>
            <a:cxnLst/>
            <a:rect r="r" b="b" t="t" l="l"/>
            <a:pathLst>
              <a:path h="3864659" w="8564342">
                <a:moveTo>
                  <a:pt x="0" y="0"/>
                </a:moveTo>
                <a:lnTo>
                  <a:pt x="8564341" y="0"/>
                </a:lnTo>
                <a:lnTo>
                  <a:pt x="8564341" y="3864660"/>
                </a:lnTo>
                <a:lnTo>
                  <a:pt x="0" y="38646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22033" y="3067051"/>
            <a:ext cx="6790245" cy="3759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99"/>
              </a:lnSpc>
            </a:pPr>
            <a:r>
              <a:rPr lang="en-US" sz="9999" b="true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MIGRACIÓN A AWS ECS FARGATE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22033" y="7396548"/>
            <a:ext cx="6121016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Integrantes: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22033" y="7771198"/>
            <a:ext cx="6121016" cy="131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Rodrigo Jara</a:t>
            </a:r>
          </a:p>
          <a:p>
            <a:pPr algn="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Darío Morales</a:t>
            </a:r>
          </a:p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Felipe Ulloa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597698" y="-1769921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3108709" y="7013575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3666807"/>
            <a:ext cx="4873832" cy="651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ANTES: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489768"/>
            <a:ext cx="4873832" cy="182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EC2</a:t>
            </a:r>
          </a:p>
          <a:p>
            <a:pPr algn="just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Docker Compose</a:t>
            </a:r>
          </a:p>
          <a:p>
            <a:pPr algn="just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Eureka</a:t>
            </a:r>
          </a:p>
          <a:p>
            <a:pPr algn="just" marL="561339" indent="-280669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Despliegues manuales</a:t>
            </a:r>
          </a:p>
        </p:txBody>
      </p:sp>
      <p:sp>
        <p:nvSpPr>
          <p:cNvPr name="AutoShape 6" id="6"/>
          <p:cNvSpPr/>
          <p:nvPr/>
        </p:nvSpPr>
        <p:spPr>
          <a:xfrm flipH="true">
            <a:off x="5902532" y="3393678"/>
            <a:ext cx="19050" cy="4622105"/>
          </a:xfrm>
          <a:prstGeom prst="line">
            <a:avLst/>
          </a:prstGeom>
          <a:ln cap="flat" w="38100">
            <a:solidFill>
              <a:srgbClr val="70B2E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3620307" y="3347378"/>
            <a:ext cx="3086100" cy="783233"/>
            <a:chOff x="0" y="0"/>
            <a:chExt cx="812800" cy="2062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206284"/>
            </a:xfrm>
            <a:custGeom>
              <a:avLst/>
              <a:gdLst/>
              <a:ahLst/>
              <a:cxnLst/>
              <a:rect r="r" b="b" t="t" l="l"/>
              <a:pathLst>
                <a:path h="206284" w="812800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163637"/>
                  </a:lnTo>
                  <a:cubicBezTo>
                    <a:pt x="812800" y="174947"/>
                    <a:pt x="808307" y="185795"/>
                    <a:pt x="800309" y="193793"/>
                  </a:cubicBezTo>
                  <a:cubicBezTo>
                    <a:pt x="792311" y="201790"/>
                    <a:pt x="781464" y="206284"/>
                    <a:pt x="770153" y="206284"/>
                  </a:cubicBezTo>
                  <a:lnTo>
                    <a:pt x="42647" y="206284"/>
                  </a:lnTo>
                  <a:cubicBezTo>
                    <a:pt x="31336" y="206284"/>
                    <a:pt x="20489" y="201790"/>
                    <a:pt x="12491" y="193793"/>
                  </a:cubicBezTo>
                  <a:cubicBezTo>
                    <a:pt x="4493" y="185795"/>
                    <a:pt x="0" y="174947"/>
                    <a:pt x="0" y="163637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70B2E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0"/>
              <a:ext cx="812800" cy="301534"/>
            </a:xfrm>
            <a:prstGeom prst="rect">
              <a:avLst/>
            </a:prstGeom>
          </p:spPr>
          <p:txBody>
            <a:bodyPr anchor="ctr" rtlCol="false" tIns="12700" lIns="12700" bIns="12700" rIns="12700"/>
            <a:lstStyle/>
            <a:p>
              <a:pPr algn="ctr">
                <a:lnSpc>
                  <a:spcPts val="4339"/>
                </a:lnSpc>
              </a:pPr>
              <a:r>
                <a:rPr lang="en-US" b="true" sz="3099">
                  <a:solidFill>
                    <a:srgbClr val="F5F5F5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EC2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620307" y="4597558"/>
            <a:ext cx="3086100" cy="783233"/>
            <a:chOff x="0" y="0"/>
            <a:chExt cx="812800" cy="20628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206284"/>
            </a:xfrm>
            <a:custGeom>
              <a:avLst/>
              <a:gdLst/>
              <a:ahLst/>
              <a:cxnLst/>
              <a:rect r="r" b="b" t="t" l="l"/>
              <a:pathLst>
                <a:path h="206284" w="812800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163637"/>
                  </a:lnTo>
                  <a:cubicBezTo>
                    <a:pt x="812800" y="174947"/>
                    <a:pt x="808307" y="185795"/>
                    <a:pt x="800309" y="193793"/>
                  </a:cubicBezTo>
                  <a:cubicBezTo>
                    <a:pt x="792311" y="201790"/>
                    <a:pt x="781464" y="206284"/>
                    <a:pt x="770153" y="206284"/>
                  </a:cubicBezTo>
                  <a:lnTo>
                    <a:pt x="42647" y="206284"/>
                  </a:lnTo>
                  <a:cubicBezTo>
                    <a:pt x="31336" y="206284"/>
                    <a:pt x="20489" y="201790"/>
                    <a:pt x="12491" y="193793"/>
                  </a:cubicBezTo>
                  <a:cubicBezTo>
                    <a:pt x="4493" y="185795"/>
                    <a:pt x="0" y="174947"/>
                    <a:pt x="0" y="163637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6B728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0"/>
              <a:ext cx="812800" cy="301534"/>
            </a:xfrm>
            <a:prstGeom prst="rect">
              <a:avLst/>
            </a:prstGeom>
          </p:spPr>
          <p:txBody>
            <a:bodyPr anchor="ctr" rtlCol="false" tIns="12700" lIns="12700" bIns="12700" rIns="12700"/>
            <a:lstStyle/>
            <a:p>
              <a:pPr algn="ctr">
                <a:lnSpc>
                  <a:spcPts val="4339"/>
                </a:lnSpc>
              </a:pPr>
              <a:r>
                <a:rPr lang="en-US" b="true" sz="3099">
                  <a:solidFill>
                    <a:srgbClr val="F5F5F5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ECs Fargate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620307" y="5847738"/>
            <a:ext cx="3086100" cy="783233"/>
            <a:chOff x="0" y="0"/>
            <a:chExt cx="812800" cy="20628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206284"/>
            </a:xfrm>
            <a:custGeom>
              <a:avLst/>
              <a:gdLst/>
              <a:ahLst/>
              <a:cxnLst/>
              <a:rect r="r" b="b" t="t" l="l"/>
              <a:pathLst>
                <a:path h="206284" w="812800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163637"/>
                  </a:lnTo>
                  <a:cubicBezTo>
                    <a:pt x="812800" y="174947"/>
                    <a:pt x="808307" y="185795"/>
                    <a:pt x="800309" y="193793"/>
                  </a:cubicBezTo>
                  <a:cubicBezTo>
                    <a:pt x="792311" y="201790"/>
                    <a:pt x="781464" y="206284"/>
                    <a:pt x="770153" y="206284"/>
                  </a:cubicBezTo>
                  <a:lnTo>
                    <a:pt x="42647" y="206284"/>
                  </a:lnTo>
                  <a:cubicBezTo>
                    <a:pt x="31336" y="206284"/>
                    <a:pt x="20489" y="201790"/>
                    <a:pt x="12491" y="193793"/>
                  </a:cubicBezTo>
                  <a:cubicBezTo>
                    <a:pt x="4493" y="185795"/>
                    <a:pt x="0" y="174947"/>
                    <a:pt x="0" y="163637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5FAF9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0"/>
              <a:ext cx="812800" cy="301534"/>
            </a:xfrm>
            <a:prstGeom prst="rect">
              <a:avLst/>
            </a:prstGeom>
          </p:spPr>
          <p:txBody>
            <a:bodyPr anchor="ctr" rtlCol="false" tIns="12700" lIns="12700" bIns="12700" rIns="12700"/>
            <a:lstStyle/>
            <a:p>
              <a:pPr algn="ctr">
                <a:lnSpc>
                  <a:spcPts val="4339"/>
                </a:lnSpc>
              </a:pPr>
              <a:r>
                <a:rPr lang="en-US" b="true" sz="3099">
                  <a:solidFill>
                    <a:srgbClr val="F5F5F5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CI/CD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620307" y="7097917"/>
            <a:ext cx="3086100" cy="783233"/>
            <a:chOff x="0" y="0"/>
            <a:chExt cx="812800" cy="20628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206284"/>
            </a:xfrm>
            <a:custGeom>
              <a:avLst/>
              <a:gdLst/>
              <a:ahLst/>
              <a:cxnLst/>
              <a:rect r="r" b="b" t="t" l="l"/>
              <a:pathLst>
                <a:path h="206284" w="812800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163637"/>
                  </a:lnTo>
                  <a:cubicBezTo>
                    <a:pt x="812800" y="174947"/>
                    <a:pt x="808307" y="185795"/>
                    <a:pt x="800309" y="193793"/>
                  </a:cubicBezTo>
                  <a:cubicBezTo>
                    <a:pt x="792311" y="201790"/>
                    <a:pt x="781464" y="206284"/>
                    <a:pt x="770153" y="206284"/>
                  </a:cubicBezTo>
                  <a:lnTo>
                    <a:pt x="42647" y="206284"/>
                  </a:lnTo>
                  <a:cubicBezTo>
                    <a:pt x="31336" y="206284"/>
                    <a:pt x="20489" y="201790"/>
                    <a:pt x="12491" y="193793"/>
                  </a:cubicBezTo>
                  <a:cubicBezTo>
                    <a:pt x="4493" y="185795"/>
                    <a:pt x="0" y="174947"/>
                    <a:pt x="0" y="163637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F2A65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0"/>
              <a:ext cx="812800" cy="301534"/>
            </a:xfrm>
            <a:prstGeom prst="rect">
              <a:avLst/>
            </a:prstGeom>
          </p:spPr>
          <p:txBody>
            <a:bodyPr anchor="ctr" rtlCol="false" tIns="12700" lIns="12700" bIns="12700" rIns="12700"/>
            <a:lstStyle/>
            <a:p>
              <a:pPr algn="ctr">
                <a:lnSpc>
                  <a:spcPts val="4339"/>
                </a:lnSpc>
              </a:pPr>
              <a:r>
                <a:rPr lang="en-US" b="true" sz="3099">
                  <a:solidFill>
                    <a:srgbClr val="F5F5F5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Autoscaling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5400000">
            <a:off x="15014109" y="4166154"/>
            <a:ext cx="298497" cy="395862"/>
            <a:chOff x="0" y="0"/>
            <a:chExt cx="660462" cy="87589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60462" cy="875895"/>
            </a:xfrm>
            <a:custGeom>
              <a:avLst/>
              <a:gdLst/>
              <a:ahLst/>
              <a:cxnLst/>
              <a:rect r="r" b="b" t="t" l="l"/>
              <a:pathLst>
                <a:path h="875895" w="660462">
                  <a:moveTo>
                    <a:pt x="660462" y="437947"/>
                  </a:moveTo>
                  <a:lnTo>
                    <a:pt x="254062" y="0"/>
                  </a:lnTo>
                  <a:lnTo>
                    <a:pt x="254062" y="203200"/>
                  </a:lnTo>
                  <a:lnTo>
                    <a:pt x="0" y="203200"/>
                  </a:lnTo>
                  <a:lnTo>
                    <a:pt x="0" y="672695"/>
                  </a:lnTo>
                  <a:lnTo>
                    <a:pt x="254062" y="672695"/>
                  </a:lnTo>
                  <a:lnTo>
                    <a:pt x="254062" y="875895"/>
                  </a:lnTo>
                  <a:lnTo>
                    <a:pt x="660462" y="437947"/>
                  </a:lnTo>
                  <a:close/>
                </a:path>
              </a:pathLst>
            </a:custGeom>
            <a:solidFill>
              <a:srgbClr val="2F6F91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136525"/>
              <a:ext cx="558862" cy="536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028700" y="1209675"/>
            <a:ext cx="10562880" cy="1033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60"/>
              </a:lnSpc>
            </a:pPr>
            <a:r>
              <a:rPr lang="en-US" sz="8000" b="true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OBJETIVO DEL PROYECTO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138284" y="8816975"/>
            <a:ext cx="6121016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Grupo Cordillera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717748" y="3666807"/>
            <a:ext cx="4873832" cy="651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Objetivo: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717748" y="4489768"/>
            <a:ext cx="4873832" cy="3201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Migrar la plataforma a AWS ECS Fargate, automatizando el despliegue con GitHub Actions y mejorando la escalabilidad, disponibilidad y comunicación entre microservicios.</a:t>
            </a:r>
          </a:p>
        </p:txBody>
      </p:sp>
      <p:grpSp>
        <p:nvGrpSpPr>
          <p:cNvPr name="Group 26" id="26"/>
          <p:cNvGrpSpPr/>
          <p:nvPr/>
        </p:nvGrpSpPr>
        <p:grpSpPr>
          <a:xfrm rot="5400000">
            <a:off x="15014109" y="5417833"/>
            <a:ext cx="298497" cy="395862"/>
            <a:chOff x="0" y="0"/>
            <a:chExt cx="660462" cy="87589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60462" cy="875895"/>
            </a:xfrm>
            <a:custGeom>
              <a:avLst/>
              <a:gdLst/>
              <a:ahLst/>
              <a:cxnLst/>
              <a:rect r="r" b="b" t="t" l="l"/>
              <a:pathLst>
                <a:path h="875895" w="660462">
                  <a:moveTo>
                    <a:pt x="660462" y="437947"/>
                  </a:moveTo>
                  <a:lnTo>
                    <a:pt x="254062" y="0"/>
                  </a:lnTo>
                  <a:lnTo>
                    <a:pt x="254062" y="203200"/>
                  </a:lnTo>
                  <a:lnTo>
                    <a:pt x="0" y="203200"/>
                  </a:lnTo>
                  <a:lnTo>
                    <a:pt x="0" y="672695"/>
                  </a:lnTo>
                  <a:lnTo>
                    <a:pt x="254062" y="672695"/>
                  </a:lnTo>
                  <a:lnTo>
                    <a:pt x="254062" y="875895"/>
                  </a:lnTo>
                  <a:lnTo>
                    <a:pt x="660462" y="437947"/>
                  </a:lnTo>
                  <a:close/>
                </a:path>
              </a:pathLst>
            </a:custGeom>
            <a:solidFill>
              <a:srgbClr val="2F6F91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136525"/>
              <a:ext cx="558862" cy="536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5400000">
            <a:off x="15014109" y="6669513"/>
            <a:ext cx="298497" cy="395862"/>
            <a:chOff x="0" y="0"/>
            <a:chExt cx="660462" cy="87589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60462" cy="875895"/>
            </a:xfrm>
            <a:custGeom>
              <a:avLst/>
              <a:gdLst/>
              <a:ahLst/>
              <a:cxnLst/>
              <a:rect r="r" b="b" t="t" l="l"/>
              <a:pathLst>
                <a:path h="875895" w="660462">
                  <a:moveTo>
                    <a:pt x="660462" y="437947"/>
                  </a:moveTo>
                  <a:lnTo>
                    <a:pt x="254062" y="0"/>
                  </a:lnTo>
                  <a:lnTo>
                    <a:pt x="254062" y="203200"/>
                  </a:lnTo>
                  <a:lnTo>
                    <a:pt x="0" y="203200"/>
                  </a:lnTo>
                  <a:lnTo>
                    <a:pt x="0" y="672695"/>
                  </a:lnTo>
                  <a:lnTo>
                    <a:pt x="254062" y="672695"/>
                  </a:lnTo>
                  <a:lnTo>
                    <a:pt x="254062" y="875895"/>
                  </a:lnTo>
                  <a:lnTo>
                    <a:pt x="660462" y="437947"/>
                  </a:lnTo>
                  <a:close/>
                </a:path>
              </a:pathLst>
            </a:custGeom>
            <a:solidFill>
              <a:srgbClr val="2F6F91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136525"/>
              <a:ext cx="558862" cy="536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80009" y="-1519728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95454" y="6826250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084152" y="323013"/>
            <a:ext cx="2636352" cy="1104323"/>
            <a:chOff x="0" y="0"/>
            <a:chExt cx="3515136" cy="1472431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3515136" cy="1472431"/>
              <a:chOff x="0" y="0"/>
              <a:chExt cx="907217" cy="38001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907217" cy="380018"/>
              </a:xfrm>
              <a:custGeom>
                <a:avLst/>
                <a:gdLst/>
                <a:ahLst/>
                <a:cxnLst/>
                <a:rect r="r" b="b" t="t" l="l"/>
                <a:pathLst>
                  <a:path h="380018" w="907217">
                    <a:moveTo>
                      <a:pt x="38209" y="0"/>
                    </a:moveTo>
                    <a:lnTo>
                      <a:pt x="869008" y="0"/>
                    </a:lnTo>
                    <a:cubicBezTo>
                      <a:pt x="879142" y="0"/>
                      <a:pt x="888860" y="4026"/>
                      <a:pt x="896026" y="11191"/>
                    </a:cubicBezTo>
                    <a:cubicBezTo>
                      <a:pt x="903191" y="18357"/>
                      <a:pt x="907217" y="28075"/>
                      <a:pt x="907217" y="38209"/>
                    </a:cubicBezTo>
                    <a:lnTo>
                      <a:pt x="907217" y="341809"/>
                    </a:lnTo>
                    <a:cubicBezTo>
                      <a:pt x="907217" y="362911"/>
                      <a:pt x="890110" y="380018"/>
                      <a:pt x="869008" y="380018"/>
                    </a:cubicBezTo>
                    <a:lnTo>
                      <a:pt x="38209" y="380018"/>
                    </a:lnTo>
                    <a:cubicBezTo>
                      <a:pt x="17107" y="380018"/>
                      <a:pt x="0" y="362911"/>
                      <a:pt x="0" y="341809"/>
                    </a:cubicBezTo>
                    <a:lnTo>
                      <a:pt x="0" y="38209"/>
                    </a:lnTo>
                    <a:cubicBezTo>
                      <a:pt x="0" y="17107"/>
                      <a:pt x="17107" y="0"/>
                      <a:pt x="38209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 w="19050" cap="sq">
                <a:solidFill>
                  <a:srgbClr val="6B7280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66675"/>
                <a:ext cx="907217" cy="4466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259370" y="304338"/>
              <a:ext cx="1326303" cy="863755"/>
            </a:xfrm>
            <a:custGeom>
              <a:avLst/>
              <a:gdLst/>
              <a:ahLst/>
              <a:cxnLst/>
              <a:rect r="r" b="b" t="t" l="l"/>
              <a:pathLst>
                <a:path h="863755" w="1326303">
                  <a:moveTo>
                    <a:pt x="0" y="0"/>
                  </a:moveTo>
                  <a:lnTo>
                    <a:pt x="1326303" y="0"/>
                  </a:lnTo>
                  <a:lnTo>
                    <a:pt x="1326303" y="863755"/>
                  </a:lnTo>
                  <a:lnTo>
                    <a:pt x="0" y="8637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1829110" y="305779"/>
              <a:ext cx="1435039" cy="7751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662"/>
                </a:lnSpc>
              </a:pPr>
              <a:r>
                <a:rPr lang="en-US" b="true" sz="1613">
                  <a:solidFill>
                    <a:srgbClr val="2F6F9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USUARIOS</a:t>
              </a:r>
            </a:p>
            <a:p>
              <a:pPr algn="ctr">
                <a:lnSpc>
                  <a:spcPts val="2130"/>
                </a:lnSpc>
              </a:pPr>
              <a:r>
                <a:rPr lang="en-US" sz="1291">
                  <a:solidFill>
                    <a:srgbClr val="2F6F91"/>
                  </a:solidFill>
                  <a:latin typeface="Poppins"/>
                  <a:ea typeface="Poppins"/>
                  <a:cs typeface="Poppins"/>
                  <a:sym typeface="Poppins"/>
                </a:rPr>
                <a:t>Internet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301645" y="1661132"/>
            <a:ext cx="4201366" cy="1104323"/>
            <a:chOff x="0" y="0"/>
            <a:chExt cx="1445766" cy="38001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45766" cy="380018"/>
            </a:xfrm>
            <a:custGeom>
              <a:avLst/>
              <a:gdLst/>
              <a:ahLst/>
              <a:cxnLst/>
              <a:rect r="r" b="b" t="t" l="l"/>
              <a:pathLst>
                <a:path h="380018" w="1445766">
                  <a:moveTo>
                    <a:pt x="31326" y="0"/>
                  </a:moveTo>
                  <a:lnTo>
                    <a:pt x="1414440" y="0"/>
                  </a:lnTo>
                  <a:cubicBezTo>
                    <a:pt x="1422748" y="0"/>
                    <a:pt x="1430716" y="3300"/>
                    <a:pt x="1436591" y="9175"/>
                  </a:cubicBezTo>
                  <a:cubicBezTo>
                    <a:pt x="1442466" y="15050"/>
                    <a:pt x="1445766" y="23018"/>
                    <a:pt x="1445766" y="31326"/>
                  </a:cubicBezTo>
                  <a:lnTo>
                    <a:pt x="1445766" y="348692"/>
                  </a:lnTo>
                  <a:cubicBezTo>
                    <a:pt x="1445766" y="357000"/>
                    <a:pt x="1442466" y="364968"/>
                    <a:pt x="1436591" y="370842"/>
                  </a:cubicBezTo>
                  <a:cubicBezTo>
                    <a:pt x="1430716" y="376717"/>
                    <a:pt x="1422748" y="380018"/>
                    <a:pt x="1414440" y="380018"/>
                  </a:cubicBezTo>
                  <a:lnTo>
                    <a:pt x="31326" y="380018"/>
                  </a:lnTo>
                  <a:cubicBezTo>
                    <a:pt x="14025" y="380018"/>
                    <a:pt x="0" y="365993"/>
                    <a:pt x="0" y="348692"/>
                  </a:cubicBezTo>
                  <a:lnTo>
                    <a:pt x="0" y="31326"/>
                  </a:lnTo>
                  <a:cubicBezTo>
                    <a:pt x="0" y="14025"/>
                    <a:pt x="14025" y="0"/>
                    <a:pt x="31326" y="0"/>
                  </a:cubicBezTo>
                  <a:close/>
                </a:path>
              </a:pathLst>
            </a:custGeom>
            <a:solidFill>
              <a:srgbClr val="F5F5F5"/>
            </a:solidFill>
            <a:ln w="19050" cap="sq">
              <a:solidFill>
                <a:srgbClr val="6B728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1445766" cy="446693"/>
            </a:xfrm>
            <a:prstGeom prst="rect">
              <a:avLst/>
            </a:prstGeom>
          </p:spPr>
          <p:txBody>
            <a:bodyPr anchor="ctr" rtlCol="false" tIns="38880" lIns="38880" bIns="38880" rIns="3888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301645" y="3137229"/>
            <a:ext cx="4201366" cy="1104323"/>
            <a:chOff x="0" y="0"/>
            <a:chExt cx="1445766" cy="38001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45766" cy="380018"/>
            </a:xfrm>
            <a:custGeom>
              <a:avLst/>
              <a:gdLst/>
              <a:ahLst/>
              <a:cxnLst/>
              <a:rect r="r" b="b" t="t" l="l"/>
              <a:pathLst>
                <a:path h="380018" w="1445766">
                  <a:moveTo>
                    <a:pt x="31326" y="0"/>
                  </a:moveTo>
                  <a:lnTo>
                    <a:pt x="1414440" y="0"/>
                  </a:lnTo>
                  <a:cubicBezTo>
                    <a:pt x="1422748" y="0"/>
                    <a:pt x="1430716" y="3300"/>
                    <a:pt x="1436591" y="9175"/>
                  </a:cubicBezTo>
                  <a:cubicBezTo>
                    <a:pt x="1442466" y="15050"/>
                    <a:pt x="1445766" y="23018"/>
                    <a:pt x="1445766" y="31326"/>
                  </a:cubicBezTo>
                  <a:lnTo>
                    <a:pt x="1445766" y="348692"/>
                  </a:lnTo>
                  <a:cubicBezTo>
                    <a:pt x="1445766" y="357000"/>
                    <a:pt x="1442466" y="364968"/>
                    <a:pt x="1436591" y="370842"/>
                  </a:cubicBezTo>
                  <a:cubicBezTo>
                    <a:pt x="1430716" y="376717"/>
                    <a:pt x="1422748" y="380018"/>
                    <a:pt x="1414440" y="380018"/>
                  </a:cubicBezTo>
                  <a:lnTo>
                    <a:pt x="31326" y="380018"/>
                  </a:lnTo>
                  <a:cubicBezTo>
                    <a:pt x="14025" y="380018"/>
                    <a:pt x="0" y="365993"/>
                    <a:pt x="0" y="348692"/>
                  </a:cubicBezTo>
                  <a:lnTo>
                    <a:pt x="0" y="31326"/>
                  </a:lnTo>
                  <a:cubicBezTo>
                    <a:pt x="0" y="14025"/>
                    <a:pt x="14025" y="0"/>
                    <a:pt x="31326" y="0"/>
                  </a:cubicBezTo>
                  <a:close/>
                </a:path>
              </a:pathLst>
            </a:custGeom>
            <a:solidFill>
              <a:srgbClr val="F5F5F5"/>
            </a:solidFill>
            <a:ln w="19050" cap="sq">
              <a:solidFill>
                <a:srgbClr val="0099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1445766" cy="446693"/>
            </a:xfrm>
            <a:prstGeom prst="rect">
              <a:avLst/>
            </a:prstGeom>
          </p:spPr>
          <p:txBody>
            <a:bodyPr anchor="ctr" rtlCol="false" tIns="38880" lIns="38880" bIns="38880" rIns="3888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30758" y="6098351"/>
            <a:ext cx="2636352" cy="1534151"/>
            <a:chOff x="0" y="0"/>
            <a:chExt cx="907217" cy="52792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07217" cy="527929"/>
            </a:xfrm>
            <a:custGeom>
              <a:avLst/>
              <a:gdLst/>
              <a:ahLst/>
              <a:cxnLst/>
              <a:rect r="r" b="b" t="t" l="l"/>
              <a:pathLst>
                <a:path h="527929" w="907217">
                  <a:moveTo>
                    <a:pt x="49922" y="0"/>
                  </a:moveTo>
                  <a:lnTo>
                    <a:pt x="857294" y="0"/>
                  </a:lnTo>
                  <a:cubicBezTo>
                    <a:pt x="870535" y="0"/>
                    <a:pt x="883233" y="5260"/>
                    <a:pt x="892595" y="14622"/>
                  </a:cubicBezTo>
                  <a:cubicBezTo>
                    <a:pt x="901957" y="23984"/>
                    <a:pt x="907217" y="36682"/>
                    <a:pt x="907217" y="49922"/>
                  </a:cubicBezTo>
                  <a:lnTo>
                    <a:pt x="907217" y="478007"/>
                  </a:lnTo>
                  <a:cubicBezTo>
                    <a:pt x="907217" y="491247"/>
                    <a:pt x="901957" y="503945"/>
                    <a:pt x="892595" y="513307"/>
                  </a:cubicBezTo>
                  <a:cubicBezTo>
                    <a:pt x="883233" y="522670"/>
                    <a:pt x="870535" y="527929"/>
                    <a:pt x="857294" y="527929"/>
                  </a:cubicBezTo>
                  <a:lnTo>
                    <a:pt x="49922" y="527929"/>
                  </a:lnTo>
                  <a:cubicBezTo>
                    <a:pt x="36682" y="527929"/>
                    <a:pt x="23984" y="522670"/>
                    <a:pt x="14622" y="513307"/>
                  </a:cubicBezTo>
                  <a:cubicBezTo>
                    <a:pt x="5260" y="503945"/>
                    <a:pt x="0" y="491247"/>
                    <a:pt x="0" y="478007"/>
                  </a:cubicBezTo>
                  <a:lnTo>
                    <a:pt x="0" y="49922"/>
                  </a:lnTo>
                  <a:cubicBezTo>
                    <a:pt x="0" y="36682"/>
                    <a:pt x="5260" y="23984"/>
                    <a:pt x="14622" y="14622"/>
                  </a:cubicBezTo>
                  <a:cubicBezTo>
                    <a:pt x="23984" y="5260"/>
                    <a:pt x="36682" y="0"/>
                    <a:pt x="49922" y="0"/>
                  </a:cubicBezTo>
                  <a:close/>
                </a:path>
              </a:pathLst>
            </a:custGeom>
            <a:solidFill>
              <a:srgbClr val="F5F5F5"/>
            </a:solidFill>
            <a:ln w="19050" cap="sq">
              <a:solidFill>
                <a:srgbClr val="6B728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907217" cy="594604"/>
            </a:xfrm>
            <a:prstGeom prst="rect">
              <a:avLst/>
            </a:prstGeom>
          </p:spPr>
          <p:txBody>
            <a:bodyPr anchor="ctr" rtlCol="false" tIns="38880" lIns="38880" bIns="38880" rIns="3888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086210" y="6098351"/>
            <a:ext cx="2636352" cy="1104323"/>
            <a:chOff x="0" y="0"/>
            <a:chExt cx="907217" cy="38001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07217" cy="380018"/>
            </a:xfrm>
            <a:custGeom>
              <a:avLst/>
              <a:gdLst/>
              <a:ahLst/>
              <a:cxnLst/>
              <a:rect r="r" b="b" t="t" l="l"/>
              <a:pathLst>
                <a:path h="380018" w="907217">
                  <a:moveTo>
                    <a:pt x="49922" y="0"/>
                  </a:moveTo>
                  <a:lnTo>
                    <a:pt x="857294" y="0"/>
                  </a:lnTo>
                  <a:cubicBezTo>
                    <a:pt x="870535" y="0"/>
                    <a:pt x="883233" y="5260"/>
                    <a:pt x="892595" y="14622"/>
                  </a:cubicBezTo>
                  <a:cubicBezTo>
                    <a:pt x="901957" y="23984"/>
                    <a:pt x="907217" y="36682"/>
                    <a:pt x="907217" y="49922"/>
                  </a:cubicBezTo>
                  <a:lnTo>
                    <a:pt x="907217" y="330095"/>
                  </a:lnTo>
                  <a:cubicBezTo>
                    <a:pt x="907217" y="343336"/>
                    <a:pt x="901957" y="356034"/>
                    <a:pt x="892595" y="365396"/>
                  </a:cubicBezTo>
                  <a:cubicBezTo>
                    <a:pt x="883233" y="374758"/>
                    <a:pt x="870535" y="380018"/>
                    <a:pt x="857294" y="380018"/>
                  </a:cubicBezTo>
                  <a:lnTo>
                    <a:pt x="49922" y="380018"/>
                  </a:lnTo>
                  <a:cubicBezTo>
                    <a:pt x="36682" y="380018"/>
                    <a:pt x="23984" y="374758"/>
                    <a:pt x="14622" y="365396"/>
                  </a:cubicBezTo>
                  <a:cubicBezTo>
                    <a:pt x="5260" y="356034"/>
                    <a:pt x="0" y="343336"/>
                    <a:pt x="0" y="330095"/>
                  </a:cubicBezTo>
                  <a:lnTo>
                    <a:pt x="0" y="49922"/>
                  </a:lnTo>
                  <a:cubicBezTo>
                    <a:pt x="0" y="36682"/>
                    <a:pt x="5260" y="23984"/>
                    <a:pt x="14622" y="14622"/>
                  </a:cubicBezTo>
                  <a:cubicBezTo>
                    <a:pt x="23984" y="5260"/>
                    <a:pt x="36682" y="0"/>
                    <a:pt x="49922" y="0"/>
                  </a:cubicBezTo>
                  <a:close/>
                </a:path>
              </a:pathLst>
            </a:custGeom>
            <a:solidFill>
              <a:srgbClr val="F5F5F5"/>
            </a:solidFill>
            <a:ln w="19050" cap="sq">
              <a:solidFill>
                <a:srgbClr val="6B728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907217" cy="446693"/>
            </a:xfrm>
            <a:prstGeom prst="rect">
              <a:avLst/>
            </a:prstGeom>
          </p:spPr>
          <p:txBody>
            <a:bodyPr anchor="ctr" rtlCol="false" tIns="38880" lIns="38880" bIns="38880" rIns="3888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141662" y="6098351"/>
            <a:ext cx="2636352" cy="1104323"/>
            <a:chOff x="0" y="0"/>
            <a:chExt cx="907217" cy="38001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07217" cy="380018"/>
            </a:xfrm>
            <a:custGeom>
              <a:avLst/>
              <a:gdLst/>
              <a:ahLst/>
              <a:cxnLst/>
              <a:rect r="r" b="b" t="t" l="l"/>
              <a:pathLst>
                <a:path h="380018" w="907217">
                  <a:moveTo>
                    <a:pt x="49922" y="0"/>
                  </a:moveTo>
                  <a:lnTo>
                    <a:pt x="857294" y="0"/>
                  </a:lnTo>
                  <a:cubicBezTo>
                    <a:pt x="870535" y="0"/>
                    <a:pt x="883233" y="5260"/>
                    <a:pt x="892595" y="14622"/>
                  </a:cubicBezTo>
                  <a:cubicBezTo>
                    <a:pt x="901957" y="23984"/>
                    <a:pt x="907217" y="36682"/>
                    <a:pt x="907217" y="49922"/>
                  </a:cubicBezTo>
                  <a:lnTo>
                    <a:pt x="907217" y="330095"/>
                  </a:lnTo>
                  <a:cubicBezTo>
                    <a:pt x="907217" y="343336"/>
                    <a:pt x="901957" y="356034"/>
                    <a:pt x="892595" y="365396"/>
                  </a:cubicBezTo>
                  <a:cubicBezTo>
                    <a:pt x="883233" y="374758"/>
                    <a:pt x="870535" y="380018"/>
                    <a:pt x="857294" y="380018"/>
                  </a:cubicBezTo>
                  <a:lnTo>
                    <a:pt x="49922" y="380018"/>
                  </a:lnTo>
                  <a:cubicBezTo>
                    <a:pt x="36682" y="380018"/>
                    <a:pt x="23984" y="374758"/>
                    <a:pt x="14622" y="365396"/>
                  </a:cubicBezTo>
                  <a:cubicBezTo>
                    <a:pt x="5260" y="356034"/>
                    <a:pt x="0" y="343336"/>
                    <a:pt x="0" y="330095"/>
                  </a:cubicBezTo>
                  <a:lnTo>
                    <a:pt x="0" y="49922"/>
                  </a:lnTo>
                  <a:cubicBezTo>
                    <a:pt x="0" y="36682"/>
                    <a:pt x="5260" y="23984"/>
                    <a:pt x="14622" y="14622"/>
                  </a:cubicBezTo>
                  <a:cubicBezTo>
                    <a:pt x="23984" y="5260"/>
                    <a:pt x="36682" y="0"/>
                    <a:pt x="49922" y="0"/>
                  </a:cubicBezTo>
                  <a:close/>
                </a:path>
              </a:pathLst>
            </a:custGeom>
            <a:solidFill>
              <a:srgbClr val="F5F5F5"/>
            </a:solidFill>
            <a:ln w="19050" cap="sq">
              <a:solidFill>
                <a:srgbClr val="6B728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907217" cy="446693"/>
            </a:xfrm>
            <a:prstGeom prst="rect">
              <a:avLst/>
            </a:prstGeom>
          </p:spPr>
          <p:txBody>
            <a:bodyPr anchor="ctr" rtlCol="false" tIns="38880" lIns="38880" bIns="38880" rIns="3888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879530" y="7507474"/>
            <a:ext cx="3160616" cy="1182963"/>
            <a:chOff x="0" y="0"/>
            <a:chExt cx="1087625" cy="40707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87625" cy="407079"/>
            </a:xfrm>
            <a:custGeom>
              <a:avLst/>
              <a:gdLst/>
              <a:ahLst/>
              <a:cxnLst/>
              <a:rect r="r" b="b" t="t" l="l"/>
              <a:pathLst>
                <a:path h="407079" w="1087625">
                  <a:moveTo>
                    <a:pt x="41641" y="0"/>
                  </a:moveTo>
                  <a:lnTo>
                    <a:pt x="1045984" y="0"/>
                  </a:lnTo>
                  <a:cubicBezTo>
                    <a:pt x="1057028" y="0"/>
                    <a:pt x="1067620" y="4387"/>
                    <a:pt x="1075429" y="12196"/>
                  </a:cubicBezTo>
                  <a:cubicBezTo>
                    <a:pt x="1083238" y="20006"/>
                    <a:pt x="1087625" y="30597"/>
                    <a:pt x="1087625" y="41641"/>
                  </a:cubicBezTo>
                  <a:lnTo>
                    <a:pt x="1087625" y="365438"/>
                  </a:lnTo>
                  <a:cubicBezTo>
                    <a:pt x="1087625" y="376482"/>
                    <a:pt x="1083238" y="387073"/>
                    <a:pt x="1075429" y="394883"/>
                  </a:cubicBezTo>
                  <a:cubicBezTo>
                    <a:pt x="1067620" y="402692"/>
                    <a:pt x="1057028" y="407079"/>
                    <a:pt x="1045984" y="407079"/>
                  </a:cubicBezTo>
                  <a:lnTo>
                    <a:pt x="41641" y="407079"/>
                  </a:lnTo>
                  <a:cubicBezTo>
                    <a:pt x="30597" y="407079"/>
                    <a:pt x="20006" y="402692"/>
                    <a:pt x="12196" y="394883"/>
                  </a:cubicBezTo>
                  <a:cubicBezTo>
                    <a:pt x="4387" y="387073"/>
                    <a:pt x="0" y="376482"/>
                    <a:pt x="0" y="365438"/>
                  </a:cubicBezTo>
                  <a:lnTo>
                    <a:pt x="0" y="41641"/>
                  </a:lnTo>
                  <a:cubicBezTo>
                    <a:pt x="0" y="30597"/>
                    <a:pt x="4387" y="20006"/>
                    <a:pt x="12196" y="12196"/>
                  </a:cubicBezTo>
                  <a:cubicBezTo>
                    <a:pt x="20006" y="4387"/>
                    <a:pt x="30597" y="0"/>
                    <a:pt x="41641" y="0"/>
                  </a:cubicBezTo>
                  <a:close/>
                </a:path>
              </a:pathLst>
            </a:custGeom>
            <a:solidFill>
              <a:srgbClr val="F5F5F5"/>
            </a:solidFill>
            <a:ln w="19050" cap="sq">
              <a:solidFill>
                <a:srgbClr val="6B7280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1087625" cy="473754"/>
            </a:xfrm>
            <a:prstGeom prst="rect">
              <a:avLst/>
            </a:prstGeom>
          </p:spPr>
          <p:txBody>
            <a:bodyPr anchor="ctr" rtlCol="false" tIns="38880" lIns="38880" bIns="38880" rIns="3888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3451704" y="3203052"/>
            <a:ext cx="972677" cy="972677"/>
          </a:xfrm>
          <a:custGeom>
            <a:avLst/>
            <a:gdLst/>
            <a:ahLst/>
            <a:cxnLst/>
            <a:rect r="r" b="b" t="t" l="l"/>
            <a:pathLst>
              <a:path h="972677" w="972677">
                <a:moveTo>
                  <a:pt x="0" y="0"/>
                </a:moveTo>
                <a:lnTo>
                  <a:pt x="972677" y="0"/>
                </a:lnTo>
                <a:lnTo>
                  <a:pt x="972677" y="972677"/>
                </a:lnTo>
                <a:lnTo>
                  <a:pt x="0" y="9726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3301645" y="4584452"/>
            <a:ext cx="4201366" cy="1104323"/>
            <a:chOff x="0" y="0"/>
            <a:chExt cx="1445766" cy="38001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45766" cy="380018"/>
            </a:xfrm>
            <a:custGeom>
              <a:avLst/>
              <a:gdLst/>
              <a:ahLst/>
              <a:cxnLst/>
              <a:rect r="r" b="b" t="t" l="l"/>
              <a:pathLst>
                <a:path h="380018" w="1445766">
                  <a:moveTo>
                    <a:pt x="31326" y="0"/>
                  </a:moveTo>
                  <a:lnTo>
                    <a:pt x="1414440" y="0"/>
                  </a:lnTo>
                  <a:cubicBezTo>
                    <a:pt x="1422748" y="0"/>
                    <a:pt x="1430716" y="3300"/>
                    <a:pt x="1436591" y="9175"/>
                  </a:cubicBezTo>
                  <a:cubicBezTo>
                    <a:pt x="1442466" y="15050"/>
                    <a:pt x="1445766" y="23018"/>
                    <a:pt x="1445766" y="31326"/>
                  </a:cubicBezTo>
                  <a:lnTo>
                    <a:pt x="1445766" y="348692"/>
                  </a:lnTo>
                  <a:cubicBezTo>
                    <a:pt x="1445766" y="357000"/>
                    <a:pt x="1442466" y="364968"/>
                    <a:pt x="1436591" y="370842"/>
                  </a:cubicBezTo>
                  <a:cubicBezTo>
                    <a:pt x="1430716" y="376717"/>
                    <a:pt x="1422748" y="380018"/>
                    <a:pt x="1414440" y="380018"/>
                  </a:cubicBezTo>
                  <a:lnTo>
                    <a:pt x="31326" y="380018"/>
                  </a:lnTo>
                  <a:cubicBezTo>
                    <a:pt x="14025" y="380018"/>
                    <a:pt x="0" y="365993"/>
                    <a:pt x="0" y="348692"/>
                  </a:cubicBezTo>
                  <a:lnTo>
                    <a:pt x="0" y="31326"/>
                  </a:lnTo>
                  <a:cubicBezTo>
                    <a:pt x="0" y="14025"/>
                    <a:pt x="14025" y="0"/>
                    <a:pt x="31326" y="0"/>
                  </a:cubicBezTo>
                  <a:close/>
                </a:path>
              </a:pathLst>
            </a:custGeom>
            <a:solidFill>
              <a:srgbClr val="F5F5F5"/>
            </a:solidFill>
            <a:ln w="19050" cap="sq">
              <a:solidFill>
                <a:srgbClr val="009900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1445766" cy="446693"/>
            </a:xfrm>
            <a:prstGeom prst="rect">
              <a:avLst/>
            </a:prstGeom>
          </p:spPr>
          <p:txBody>
            <a:bodyPr anchor="ctr" rtlCol="false" tIns="38880" lIns="38880" bIns="38880" rIns="3888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3523497" y="4727327"/>
            <a:ext cx="829090" cy="829090"/>
          </a:xfrm>
          <a:custGeom>
            <a:avLst/>
            <a:gdLst/>
            <a:ahLst/>
            <a:cxnLst/>
            <a:rect r="r" b="b" t="t" l="l"/>
            <a:pathLst>
              <a:path h="829090" w="829090">
                <a:moveTo>
                  <a:pt x="0" y="0"/>
                </a:moveTo>
                <a:lnTo>
                  <a:pt x="829090" y="0"/>
                </a:lnTo>
                <a:lnTo>
                  <a:pt x="829090" y="829090"/>
                </a:lnTo>
                <a:lnTo>
                  <a:pt x="0" y="8290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4372487" y="6264090"/>
            <a:ext cx="553550" cy="772845"/>
          </a:xfrm>
          <a:custGeom>
            <a:avLst/>
            <a:gdLst/>
            <a:ahLst/>
            <a:cxnLst/>
            <a:rect r="r" b="b" t="t" l="l"/>
            <a:pathLst>
              <a:path h="772845" w="553550">
                <a:moveTo>
                  <a:pt x="0" y="0"/>
                </a:moveTo>
                <a:lnTo>
                  <a:pt x="553549" y="0"/>
                </a:lnTo>
                <a:lnTo>
                  <a:pt x="553549" y="772845"/>
                </a:lnTo>
                <a:lnTo>
                  <a:pt x="0" y="7728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214216" y="6378745"/>
            <a:ext cx="696024" cy="763812"/>
          </a:xfrm>
          <a:custGeom>
            <a:avLst/>
            <a:gdLst/>
            <a:ahLst/>
            <a:cxnLst/>
            <a:rect r="r" b="b" t="t" l="l"/>
            <a:pathLst>
              <a:path h="763812" w="696024">
                <a:moveTo>
                  <a:pt x="0" y="0"/>
                </a:moveTo>
                <a:lnTo>
                  <a:pt x="696023" y="0"/>
                </a:lnTo>
                <a:lnTo>
                  <a:pt x="696023" y="763812"/>
                </a:lnTo>
                <a:lnTo>
                  <a:pt x="0" y="76381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3415222" y="1729385"/>
            <a:ext cx="937365" cy="960169"/>
          </a:xfrm>
          <a:custGeom>
            <a:avLst/>
            <a:gdLst/>
            <a:ahLst/>
            <a:cxnLst/>
            <a:rect r="r" b="b" t="t" l="l"/>
            <a:pathLst>
              <a:path h="960169" w="937365">
                <a:moveTo>
                  <a:pt x="0" y="0"/>
                </a:moveTo>
                <a:lnTo>
                  <a:pt x="937365" y="0"/>
                </a:lnTo>
                <a:lnTo>
                  <a:pt x="937365" y="960169"/>
                </a:lnTo>
                <a:lnTo>
                  <a:pt x="0" y="96016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7399579" y="6264090"/>
            <a:ext cx="867949" cy="787663"/>
          </a:xfrm>
          <a:custGeom>
            <a:avLst/>
            <a:gdLst/>
            <a:ahLst/>
            <a:cxnLst/>
            <a:rect r="r" b="b" t="t" l="l"/>
            <a:pathLst>
              <a:path h="787663" w="867949">
                <a:moveTo>
                  <a:pt x="0" y="0"/>
                </a:moveTo>
                <a:lnTo>
                  <a:pt x="867948" y="0"/>
                </a:lnTo>
                <a:lnTo>
                  <a:pt x="867948" y="787664"/>
                </a:lnTo>
                <a:lnTo>
                  <a:pt x="0" y="78766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7065450" y="7716652"/>
            <a:ext cx="601172" cy="764607"/>
          </a:xfrm>
          <a:custGeom>
            <a:avLst/>
            <a:gdLst/>
            <a:ahLst/>
            <a:cxnLst/>
            <a:rect r="r" b="b" t="t" l="l"/>
            <a:pathLst>
              <a:path h="764607" w="601172">
                <a:moveTo>
                  <a:pt x="0" y="0"/>
                </a:moveTo>
                <a:lnTo>
                  <a:pt x="601172" y="0"/>
                </a:lnTo>
                <a:lnTo>
                  <a:pt x="601172" y="764607"/>
                </a:lnTo>
                <a:lnTo>
                  <a:pt x="0" y="76460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3876660" y="8849923"/>
            <a:ext cx="3055452" cy="1104323"/>
            <a:chOff x="0" y="0"/>
            <a:chExt cx="4073936" cy="1472431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4073936" cy="1472431"/>
              <a:chOff x="0" y="0"/>
              <a:chExt cx="1051436" cy="380018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051436" cy="380018"/>
              </a:xfrm>
              <a:custGeom>
                <a:avLst/>
                <a:gdLst/>
                <a:ahLst/>
                <a:cxnLst/>
                <a:rect r="r" b="b" t="t" l="l"/>
                <a:pathLst>
                  <a:path h="380018" w="1051436">
                    <a:moveTo>
                      <a:pt x="43075" y="0"/>
                    </a:moveTo>
                    <a:lnTo>
                      <a:pt x="1008362" y="0"/>
                    </a:lnTo>
                    <a:cubicBezTo>
                      <a:pt x="1019786" y="0"/>
                      <a:pt x="1030742" y="4538"/>
                      <a:pt x="1038820" y="12616"/>
                    </a:cubicBezTo>
                    <a:cubicBezTo>
                      <a:pt x="1046898" y="20694"/>
                      <a:pt x="1051436" y="31651"/>
                      <a:pt x="1051436" y="43075"/>
                    </a:cubicBezTo>
                    <a:lnTo>
                      <a:pt x="1051436" y="336943"/>
                    </a:lnTo>
                    <a:cubicBezTo>
                      <a:pt x="1051436" y="348367"/>
                      <a:pt x="1046898" y="359323"/>
                      <a:pt x="1038820" y="367401"/>
                    </a:cubicBezTo>
                    <a:cubicBezTo>
                      <a:pt x="1030742" y="375479"/>
                      <a:pt x="1019786" y="380018"/>
                      <a:pt x="1008362" y="380018"/>
                    </a:cubicBezTo>
                    <a:lnTo>
                      <a:pt x="43075" y="380018"/>
                    </a:lnTo>
                    <a:cubicBezTo>
                      <a:pt x="31651" y="380018"/>
                      <a:pt x="20694" y="375479"/>
                      <a:pt x="12616" y="367401"/>
                    </a:cubicBezTo>
                    <a:cubicBezTo>
                      <a:pt x="4538" y="359323"/>
                      <a:pt x="0" y="348367"/>
                      <a:pt x="0" y="336943"/>
                    </a:cubicBezTo>
                    <a:lnTo>
                      <a:pt x="0" y="43075"/>
                    </a:lnTo>
                    <a:cubicBezTo>
                      <a:pt x="0" y="31651"/>
                      <a:pt x="4538" y="20694"/>
                      <a:pt x="12616" y="12616"/>
                    </a:cubicBezTo>
                    <a:cubicBezTo>
                      <a:pt x="20694" y="4538"/>
                      <a:pt x="31651" y="0"/>
                      <a:pt x="43075" y="0"/>
                    </a:cubicBezTo>
                    <a:close/>
                  </a:path>
                </a:pathLst>
              </a:custGeom>
              <a:solidFill>
                <a:srgbClr val="DAEFFF"/>
              </a:solidFill>
              <a:ln w="19050" cap="sq">
                <a:solidFill>
                  <a:srgbClr val="2F6F91"/>
                </a:solidFill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66675"/>
                <a:ext cx="1051436" cy="446693"/>
              </a:xfrm>
              <a:prstGeom prst="rect">
                <a:avLst/>
              </a:prstGeom>
            </p:spPr>
            <p:txBody>
              <a:bodyPr anchor="ctr" rtlCol="false" tIns="38880" lIns="38880" bIns="38880" rIns="3888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1386362" y="305779"/>
              <a:ext cx="2513414" cy="7751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662"/>
                </a:lnSpc>
              </a:pPr>
              <a:r>
                <a:rPr lang="en-US" sz="1613" b="true">
                  <a:solidFill>
                    <a:srgbClr val="2F6F9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RDS - PostgreSQL</a:t>
              </a:r>
            </a:p>
            <a:p>
              <a:pPr algn="ctr">
                <a:lnSpc>
                  <a:spcPts val="2130"/>
                </a:lnSpc>
              </a:pPr>
              <a:r>
                <a:rPr lang="en-US" sz="1291">
                  <a:solidFill>
                    <a:srgbClr val="2F6F91"/>
                  </a:solidFill>
                  <a:latin typeface="Poppins"/>
                  <a:ea typeface="Poppins"/>
                  <a:cs typeface="Poppins"/>
                  <a:sym typeface="Poppins"/>
                </a:rPr>
                <a:t>EC2 - SG </a:t>
              </a:r>
            </a:p>
          </p:txBody>
        </p:sp>
        <p:sp>
          <p:nvSpPr>
            <p:cNvPr name="Freeform 43" id="43"/>
            <p:cNvSpPr/>
            <p:nvPr/>
          </p:nvSpPr>
          <p:spPr>
            <a:xfrm flipH="false" flipV="false" rot="0">
              <a:off x="174160" y="197234"/>
              <a:ext cx="1077963" cy="1077963"/>
            </a:xfrm>
            <a:custGeom>
              <a:avLst/>
              <a:gdLst/>
              <a:ahLst/>
              <a:cxnLst/>
              <a:rect r="r" b="b" t="t" l="l"/>
              <a:pathLst>
                <a:path h="1077963" w="1077963">
                  <a:moveTo>
                    <a:pt x="0" y="0"/>
                  </a:moveTo>
                  <a:lnTo>
                    <a:pt x="1077963" y="0"/>
                  </a:lnTo>
                  <a:lnTo>
                    <a:pt x="1077963" y="1077963"/>
                  </a:lnTo>
                  <a:lnTo>
                    <a:pt x="0" y="10779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7782102" y="7559284"/>
            <a:ext cx="2186929" cy="993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62"/>
              </a:lnSpc>
            </a:pPr>
            <a:r>
              <a:rPr lang="en-US" sz="1613" b="true">
                <a:solidFill>
                  <a:srgbClr val="2F6F91"/>
                </a:solidFill>
                <a:latin typeface="Poppins Bold"/>
                <a:ea typeface="Poppins Bold"/>
                <a:cs typeface="Poppins Bold"/>
                <a:sym typeface="Poppins Bold"/>
              </a:rPr>
              <a:t>ms-kpis</a:t>
            </a:r>
          </a:p>
          <a:p>
            <a:pPr algn="just">
              <a:lnSpc>
                <a:spcPts val="2662"/>
              </a:lnSpc>
            </a:pPr>
            <a:r>
              <a:rPr lang="en-US" sz="1613" b="true">
                <a:solidFill>
                  <a:srgbClr val="2F6F91"/>
                </a:solidFill>
                <a:latin typeface="Poppins Bold"/>
                <a:ea typeface="Poppins Bold"/>
                <a:cs typeface="Poppins Bold"/>
                <a:sym typeface="Poppins Bold"/>
              </a:rPr>
              <a:t>ms-reporting</a:t>
            </a:r>
          </a:p>
          <a:p>
            <a:pPr algn="just">
              <a:lnSpc>
                <a:spcPts val="2662"/>
              </a:lnSpc>
            </a:pPr>
            <a:r>
              <a:rPr lang="en-US" b="true" sz="1613">
                <a:solidFill>
                  <a:srgbClr val="2F6F91"/>
                </a:solidFill>
                <a:latin typeface="Poppins Bold"/>
                <a:ea typeface="Poppins Bold"/>
                <a:cs typeface="Poppins Bold"/>
                <a:sym typeface="Poppins Bold"/>
              </a:rPr>
              <a:t>ms-data-ingestion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513495" y="6306254"/>
            <a:ext cx="1076279" cy="602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2"/>
              </a:lnSpc>
            </a:pPr>
            <a:r>
              <a:rPr lang="en-US" sz="1613" b="true">
                <a:solidFill>
                  <a:srgbClr val="2F6F91"/>
                </a:solidFill>
                <a:latin typeface="Poppins Bold"/>
                <a:ea typeface="Poppins Bold"/>
                <a:cs typeface="Poppins Bold"/>
                <a:sym typeface="Poppins Bold"/>
              </a:rPr>
              <a:t>BFF</a:t>
            </a:r>
          </a:p>
          <a:p>
            <a:pPr algn="ctr">
              <a:lnSpc>
                <a:spcPts val="2130"/>
              </a:lnSpc>
            </a:pPr>
            <a:r>
              <a:rPr lang="en-US" sz="1291">
                <a:solidFill>
                  <a:srgbClr val="2F6F91"/>
                </a:solidFill>
                <a:latin typeface="Poppins"/>
                <a:ea typeface="Poppins"/>
                <a:cs typeface="Poppins"/>
                <a:sym typeface="Poppins"/>
              </a:rPr>
              <a:t>Autoscaling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018348" y="6444215"/>
            <a:ext cx="1417937" cy="326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2"/>
              </a:lnSpc>
            </a:pPr>
            <a:r>
              <a:rPr lang="en-US" b="true" sz="1613">
                <a:solidFill>
                  <a:srgbClr val="2F6F91"/>
                </a:solidFill>
                <a:latin typeface="Poppins Bold"/>
                <a:ea typeface="Poppins Bold"/>
                <a:cs typeface="Poppins Bold"/>
                <a:sym typeface="Poppins Bold"/>
              </a:rPr>
              <a:t>ms-auth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007547" y="6159067"/>
            <a:ext cx="1518008" cy="1326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62"/>
              </a:lnSpc>
            </a:pPr>
            <a:r>
              <a:rPr lang="en-US" sz="1613" b="true">
                <a:solidFill>
                  <a:srgbClr val="2F6F91"/>
                </a:solidFill>
                <a:latin typeface="Poppins Bold"/>
                <a:ea typeface="Poppins Bold"/>
                <a:cs typeface="Poppins Bold"/>
                <a:sym typeface="Poppins Bold"/>
              </a:rPr>
              <a:t>ms-sales</a:t>
            </a:r>
          </a:p>
          <a:p>
            <a:pPr algn="just">
              <a:lnSpc>
                <a:spcPts val="2662"/>
              </a:lnSpc>
            </a:pPr>
            <a:r>
              <a:rPr lang="en-US" sz="1613" b="true">
                <a:solidFill>
                  <a:srgbClr val="2F6F91"/>
                </a:solidFill>
                <a:latin typeface="Poppins Bold"/>
                <a:ea typeface="Poppins Bold"/>
                <a:cs typeface="Poppins Bold"/>
                <a:sym typeface="Poppins Bold"/>
              </a:rPr>
              <a:t>ms-inventory</a:t>
            </a:r>
          </a:p>
          <a:p>
            <a:pPr algn="just">
              <a:lnSpc>
                <a:spcPts val="2662"/>
              </a:lnSpc>
            </a:pPr>
            <a:r>
              <a:rPr lang="en-US" sz="1613" b="true">
                <a:solidFill>
                  <a:srgbClr val="2F6F91"/>
                </a:solidFill>
                <a:latin typeface="Poppins Bold"/>
                <a:ea typeface="Poppins Bold"/>
                <a:cs typeface="Poppins Bold"/>
                <a:sym typeface="Poppins Bold"/>
              </a:rPr>
              <a:t>ms-finance</a:t>
            </a:r>
          </a:p>
          <a:p>
            <a:pPr algn="just">
              <a:lnSpc>
                <a:spcPts val="2662"/>
              </a:lnSpc>
            </a:pPr>
            <a:r>
              <a:rPr lang="en-US" b="true" sz="1613">
                <a:solidFill>
                  <a:srgbClr val="2F6F91"/>
                </a:solidFill>
                <a:latin typeface="Poppins Bold"/>
                <a:ea typeface="Poppins Bold"/>
                <a:cs typeface="Poppins Bold"/>
                <a:sym typeface="Poppins Bold"/>
              </a:rPr>
              <a:t>ms-customer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99489" y="9516384"/>
            <a:ext cx="6121016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Grupo Cordillera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4551856" y="1869035"/>
            <a:ext cx="2812122" cy="602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62"/>
              </a:lnSpc>
            </a:pPr>
            <a:r>
              <a:rPr lang="en-US" sz="1613" b="true">
                <a:solidFill>
                  <a:srgbClr val="2F6F91"/>
                </a:solidFill>
                <a:latin typeface="Poppins Bold"/>
                <a:ea typeface="Poppins Bold"/>
                <a:cs typeface="Poppins Bold"/>
                <a:sym typeface="Poppins Bold"/>
              </a:rPr>
              <a:t>Application Load Balancer</a:t>
            </a:r>
          </a:p>
          <a:p>
            <a:pPr algn="ctr">
              <a:lnSpc>
                <a:spcPts val="2130"/>
              </a:lnSpc>
            </a:pPr>
            <a:r>
              <a:rPr lang="en-US" sz="1291">
                <a:solidFill>
                  <a:srgbClr val="2F6F91"/>
                </a:solidFill>
                <a:latin typeface="Poppins"/>
                <a:ea typeface="Poppins"/>
                <a:cs typeface="Poppins"/>
                <a:sym typeface="Poppins"/>
              </a:rPr>
              <a:t>Cordillera-alb (público)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4551856" y="3345132"/>
            <a:ext cx="2812122" cy="602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2"/>
              </a:lnSpc>
            </a:pPr>
            <a:r>
              <a:rPr lang="en-US" b="true" sz="1613">
                <a:solidFill>
                  <a:srgbClr val="009900"/>
                </a:solidFill>
                <a:latin typeface="Poppins Bold"/>
                <a:ea typeface="Poppins Bold"/>
                <a:cs typeface="Poppins Bold"/>
                <a:sym typeface="Poppins Bold"/>
              </a:rPr>
              <a:t>ECS Service: Frontend</a:t>
            </a:r>
          </a:p>
          <a:p>
            <a:pPr algn="ctr">
              <a:lnSpc>
                <a:spcPts val="2130"/>
              </a:lnSpc>
            </a:pPr>
            <a:r>
              <a:rPr lang="en-US" sz="1291">
                <a:solidFill>
                  <a:srgbClr val="009900"/>
                </a:solidFill>
                <a:latin typeface="Poppins"/>
                <a:ea typeface="Poppins"/>
                <a:cs typeface="Poppins"/>
                <a:sym typeface="Poppins"/>
              </a:rPr>
              <a:t>Farga</a:t>
            </a:r>
            <a:r>
              <a:rPr lang="en-US" sz="1291">
                <a:solidFill>
                  <a:srgbClr val="009900"/>
                </a:solidFill>
                <a:latin typeface="Poppins"/>
                <a:ea typeface="Poppins"/>
                <a:cs typeface="Poppins"/>
                <a:sym typeface="Poppins"/>
              </a:rPr>
              <a:t>te 0.25vCPU/512MB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4482340" y="4792355"/>
            <a:ext cx="2951155" cy="602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2"/>
              </a:lnSpc>
            </a:pPr>
            <a:r>
              <a:rPr lang="en-US" sz="1613" b="true">
                <a:solidFill>
                  <a:srgbClr val="009900"/>
                </a:solidFill>
                <a:latin typeface="Poppins Bold"/>
                <a:ea typeface="Poppins Bold"/>
                <a:cs typeface="Poppins Bold"/>
                <a:sym typeface="Poppins Bold"/>
              </a:rPr>
              <a:t>API Gateway</a:t>
            </a:r>
          </a:p>
          <a:p>
            <a:pPr algn="ctr">
              <a:lnSpc>
                <a:spcPts val="2130"/>
              </a:lnSpc>
            </a:pPr>
            <a:r>
              <a:rPr lang="en-US" sz="1291">
                <a:solidFill>
                  <a:srgbClr val="009900"/>
                </a:solidFill>
                <a:latin typeface="Poppins"/>
                <a:ea typeface="Poppins"/>
                <a:cs typeface="Poppins"/>
                <a:sym typeface="Poppins"/>
              </a:rPr>
              <a:t>Spring Cloud Gateway - Autoscaling</a:t>
            </a:r>
          </a:p>
        </p:txBody>
      </p:sp>
      <p:sp>
        <p:nvSpPr>
          <p:cNvPr name="Freeform 52" id="52"/>
          <p:cNvSpPr/>
          <p:nvPr/>
        </p:nvSpPr>
        <p:spPr>
          <a:xfrm>
            <a:off x="5402328" y="1544234"/>
            <a:ext cx="0" cy="116898"/>
          </a:xfrm>
          <a:custGeom>
            <a:avLst/>
            <a:gdLst/>
            <a:ahLst/>
            <a:cxnLst/>
            <a:rect r="r" b="b" t="t" l="l"/>
            <a:pathLst>
              <a:path h="116898" w="0">
                <a:moveTo>
                  <a:pt x="0" y="0"/>
                </a:moveTo>
                <a:lnTo>
                  <a:pt x="0" y="116898"/>
                </a:lnTo>
              </a:path>
            </a:pathLst>
          </a:custGeom>
          <a:ln cap="flat" w="38100">
            <a:solidFill>
              <a:srgbClr val="2F6F91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53" id="53"/>
          <p:cNvSpPr/>
          <p:nvPr/>
        </p:nvSpPr>
        <p:spPr>
          <a:xfrm>
            <a:off x="5402328" y="2951342"/>
            <a:ext cx="0" cy="185887"/>
          </a:xfrm>
          <a:custGeom>
            <a:avLst/>
            <a:gdLst/>
            <a:ahLst/>
            <a:cxnLst/>
            <a:rect r="r" b="b" t="t" l="l"/>
            <a:pathLst>
              <a:path h="185887" w="0">
                <a:moveTo>
                  <a:pt x="0" y="0"/>
                </a:moveTo>
                <a:lnTo>
                  <a:pt x="0" y="185887"/>
                </a:lnTo>
              </a:path>
            </a:pathLst>
          </a:custGeom>
          <a:ln cap="flat" w="38100">
            <a:solidFill>
              <a:srgbClr val="2F6F91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54" id="54"/>
          <p:cNvSpPr/>
          <p:nvPr/>
        </p:nvSpPr>
        <p:spPr>
          <a:xfrm>
            <a:off x="5402328" y="4413002"/>
            <a:ext cx="0" cy="171450"/>
          </a:xfrm>
          <a:custGeom>
            <a:avLst/>
            <a:gdLst/>
            <a:ahLst/>
            <a:cxnLst/>
            <a:rect r="r" b="b" t="t" l="l"/>
            <a:pathLst>
              <a:path h="171450" w="0">
                <a:moveTo>
                  <a:pt x="0" y="0"/>
                </a:moveTo>
                <a:lnTo>
                  <a:pt x="0" y="171450"/>
                </a:lnTo>
              </a:path>
            </a:pathLst>
          </a:custGeom>
          <a:ln cap="flat" w="38100">
            <a:solidFill>
              <a:srgbClr val="2F6F91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55" id="55"/>
          <p:cNvSpPr/>
          <p:nvPr/>
        </p:nvSpPr>
        <p:spPr>
          <a:xfrm>
            <a:off x="5402328" y="5688776"/>
            <a:ext cx="2058" cy="409575"/>
          </a:xfrm>
          <a:custGeom>
            <a:avLst/>
            <a:gdLst/>
            <a:ahLst/>
            <a:cxnLst/>
            <a:rect r="r" b="b" t="t" l="l"/>
            <a:pathLst>
              <a:path h="409575" w="2058">
                <a:moveTo>
                  <a:pt x="0" y="0"/>
                </a:moveTo>
                <a:lnTo>
                  <a:pt x="0" y="203759"/>
                </a:lnTo>
                <a:cubicBezTo>
                  <a:pt x="0" y="204031"/>
                  <a:pt x="109" y="204293"/>
                  <a:pt x="302" y="204486"/>
                </a:cubicBezTo>
                <a:cubicBezTo>
                  <a:pt x="495" y="204679"/>
                  <a:pt x="757" y="204787"/>
                  <a:pt x="1029" y="204787"/>
                </a:cubicBezTo>
                <a:lnTo>
                  <a:pt x="1029" y="204787"/>
                </a:lnTo>
                <a:cubicBezTo>
                  <a:pt x="1598" y="204787"/>
                  <a:pt x="2058" y="205248"/>
                  <a:pt x="2058" y="205816"/>
                </a:cubicBezTo>
                <a:lnTo>
                  <a:pt x="2058" y="409575"/>
                </a:lnTo>
              </a:path>
            </a:pathLst>
          </a:custGeom>
          <a:ln cap="flat" w="38100">
            <a:solidFill>
              <a:srgbClr val="2F6F91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56" id="56"/>
          <p:cNvSpPr/>
          <p:nvPr/>
        </p:nvSpPr>
        <p:spPr>
          <a:xfrm>
            <a:off x="2348934" y="5688776"/>
            <a:ext cx="3053395" cy="409575"/>
          </a:xfrm>
          <a:custGeom>
            <a:avLst/>
            <a:gdLst/>
            <a:ahLst/>
            <a:cxnLst/>
            <a:rect r="r" b="b" t="t" l="l"/>
            <a:pathLst>
              <a:path h="409575" w="3053395">
                <a:moveTo>
                  <a:pt x="3053394" y="0"/>
                </a:moveTo>
                <a:lnTo>
                  <a:pt x="3053394" y="53675"/>
                </a:lnTo>
                <a:cubicBezTo>
                  <a:pt x="3053394" y="67910"/>
                  <a:pt x="3047739" y="81562"/>
                  <a:pt x="3037673" y="91629"/>
                </a:cubicBezTo>
                <a:cubicBezTo>
                  <a:pt x="3027607" y="101695"/>
                  <a:pt x="3013955" y="107350"/>
                  <a:pt x="2999719" y="107350"/>
                </a:cubicBezTo>
                <a:lnTo>
                  <a:pt x="151112" y="107350"/>
                </a:lnTo>
                <a:cubicBezTo>
                  <a:pt x="67655" y="107350"/>
                  <a:pt x="0" y="175005"/>
                  <a:pt x="0" y="258462"/>
                </a:cubicBezTo>
                <a:lnTo>
                  <a:pt x="0" y="409575"/>
                </a:lnTo>
              </a:path>
            </a:pathLst>
          </a:custGeom>
          <a:ln cap="flat" w="38100">
            <a:solidFill>
              <a:srgbClr val="2F6F91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57" id="57"/>
          <p:cNvSpPr/>
          <p:nvPr/>
        </p:nvSpPr>
        <p:spPr>
          <a:xfrm>
            <a:off x="5402328" y="5688776"/>
            <a:ext cx="3057510" cy="409575"/>
          </a:xfrm>
          <a:custGeom>
            <a:avLst/>
            <a:gdLst/>
            <a:ahLst/>
            <a:cxnLst/>
            <a:rect r="r" b="b" t="t" l="l"/>
            <a:pathLst>
              <a:path h="409575" w="3057510">
                <a:moveTo>
                  <a:pt x="0" y="0"/>
                </a:moveTo>
                <a:lnTo>
                  <a:pt x="0" y="53675"/>
                </a:lnTo>
                <a:cubicBezTo>
                  <a:pt x="0" y="67910"/>
                  <a:pt x="5655" y="81562"/>
                  <a:pt x="15722" y="91629"/>
                </a:cubicBezTo>
                <a:cubicBezTo>
                  <a:pt x="25788" y="101695"/>
                  <a:pt x="39440" y="107350"/>
                  <a:pt x="53675" y="107350"/>
                </a:cubicBezTo>
                <a:lnTo>
                  <a:pt x="2906398" y="107350"/>
                </a:lnTo>
                <a:cubicBezTo>
                  <a:pt x="2989855" y="107350"/>
                  <a:pt x="3057511" y="175005"/>
                  <a:pt x="3057511" y="258462"/>
                </a:cubicBezTo>
                <a:lnTo>
                  <a:pt x="3057511" y="409575"/>
                </a:lnTo>
              </a:path>
            </a:pathLst>
          </a:custGeom>
          <a:ln cap="flat" w="38100">
            <a:solidFill>
              <a:srgbClr val="2F6F91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58" id="58"/>
          <p:cNvSpPr/>
          <p:nvPr/>
        </p:nvSpPr>
        <p:spPr>
          <a:xfrm>
            <a:off x="8459839" y="7355074"/>
            <a:ext cx="0" cy="152400"/>
          </a:xfrm>
          <a:custGeom>
            <a:avLst/>
            <a:gdLst/>
            <a:ahLst/>
            <a:cxnLst/>
            <a:rect r="r" b="b" t="t" l="l"/>
            <a:pathLst>
              <a:path h="152400" w="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cap="flat" w="38100">
            <a:solidFill>
              <a:srgbClr val="2F6F91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59" id="59"/>
          <p:cNvSpPr/>
          <p:nvPr/>
        </p:nvSpPr>
        <p:spPr>
          <a:xfrm>
            <a:off x="6932113" y="8690437"/>
            <a:ext cx="1527726" cy="711647"/>
          </a:xfrm>
          <a:custGeom>
            <a:avLst/>
            <a:gdLst/>
            <a:ahLst/>
            <a:cxnLst/>
            <a:rect r="r" b="b" t="t" l="l"/>
            <a:pathLst>
              <a:path h="711647" w="1527726">
                <a:moveTo>
                  <a:pt x="1527726" y="0"/>
                </a:moveTo>
                <a:lnTo>
                  <a:pt x="1527726" y="483047"/>
                </a:lnTo>
                <a:cubicBezTo>
                  <a:pt x="1527726" y="543676"/>
                  <a:pt x="1503641" y="601821"/>
                  <a:pt x="1460770" y="644692"/>
                </a:cubicBezTo>
                <a:cubicBezTo>
                  <a:pt x="1417900" y="687563"/>
                  <a:pt x="1359755" y="711647"/>
                  <a:pt x="1299126" y="711647"/>
                </a:cubicBezTo>
                <a:lnTo>
                  <a:pt x="0" y="711647"/>
                </a:lnTo>
              </a:path>
            </a:pathLst>
          </a:custGeom>
          <a:ln cap="flat" w="38100">
            <a:solidFill>
              <a:srgbClr val="2F6F91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60" id="60"/>
          <p:cNvSpPr/>
          <p:nvPr/>
        </p:nvSpPr>
        <p:spPr>
          <a:xfrm>
            <a:off x="5404386" y="8026298"/>
            <a:ext cx="0" cy="823624"/>
          </a:xfrm>
          <a:custGeom>
            <a:avLst/>
            <a:gdLst/>
            <a:ahLst/>
            <a:cxnLst/>
            <a:rect r="r" b="b" t="t" l="l"/>
            <a:pathLst>
              <a:path h="823624" w="0">
                <a:moveTo>
                  <a:pt x="0" y="0"/>
                </a:moveTo>
                <a:lnTo>
                  <a:pt x="0" y="823625"/>
                </a:lnTo>
              </a:path>
            </a:pathLst>
          </a:custGeom>
          <a:ln cap="flat" w="38100">
            <a:solidFill>
              <a:srgbClr val="2F6F91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61" id="61"/>
          <p:cNvSpPr/>
          <p:nvPr/>
        </p:nvSpPr>
        <p:spPr>
          <a:xfrm>
            <a:off x="2348934" y="7632502"/>
            <a:ext cx="1527726" cy="1769582"/>
          </a:xfrm>
          <a:custGeom>
            <a:avLst/>
            <a:gdLst/>
            <a:ahLst/>
            <a:cxnLst/>
            <a:rect r="r" b="b" t="t" l="l"/>
            <a:pathLst>
              <a:path h="1769582" w="1527726">
                <a:moveTo>
                  <a:pt x="0" y="0"/>
                </a:moveTo>
                <a:lnTo>
                  <a:pt x="0" y="1540982"/>
                </a:lnTo>
                <a:cubicBezTo>
                  <a:pt x="0" y="1601611"/>
                  <a:pt x="24084" y="1659756"/>
                  <a:pt x="66955" y="1702627"/>
                </a:cubicBezTo>
                <a:cubicBezTo>
                  <a:pt x="109826" y="1745498"/>
                  <a:pt x="167971" y="1769582"/>
                  <a:pt x="228600" y="1769582"/>
                </a:cubicBezTo>
                <a:lnTo>
                  <a:pt x="1527726" y="1769582"/>
                </a:lnTo>
              </a:path>
            </a:pathLst>
          </a:custGeom>
          <a:ln cap="flat" w="38100">
            <a:solidFill>
              <a:srgbClr val="2F6F91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62" id="62"/>
          <p:cNvGrpSpPr/>
          <p:nvPr/>
        </p:nvGrpSpPr>
        <p:grpSpPr>
          <a:xfrm rot="0">
            <a:off x="10412597" y="3520407"/>
            <a:ext cx="6846703" cy="3250678"/>
            <a:chOff x="0" y="0"/>
            <a:chExt cx="9128937" cy="4334237"/>
          </a:xfrm>
        </p:grpSpPr>
        <p:sp>
          <p:nvSpPr>
            <p:cNvPr name="TextBox 63" id="63"/>
            <p:cNvSpPr txBox="true"/>
            <p:nvPr/>
          </p:nvSpPr>
          <p:spPr>
            <a:xfrm rot="0">
              <a:off x="0" y="180975"/>
              <a:ext cx="9128937" cy="14386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7760"/>
                </a:lnSpc>
              </a:pPr>
              <a:r>
                <a:rPr lang="en-US" b="true" sz="8000">
                  <a:solidFill>
                    <a:srgbClr val="000000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ARQUITECTURA</a:t>
              </a:r>
            </a:p>
          </p:txBody>
        </p:sp>
        <p:sp>
          <p:nvSpPr>
            <p:cNvPr name="TextBox 64" id="64"/>
            <p:cNvSpPr txBox="true"/>
            <p:nvPr/>
          </p:nvSpPr>
          <p:spPr>
            <a:xfrm rot="0">
              <a:off x="790853" y="1782764"/>
              <a:ext cx="7547231" cy="25514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820421" indent="-410210" lvl="1">
                <a:lnSpc>
                  <a:spcPts val="3686"/>
                </a:lnSpc>
                <a:buFont typeface="Arial"/>
                <a:buChar char="•"/>
              </a:pPr>
              <a:r>
                <a:rPr lang="en-US" sz="3800">
                  <a:solidFill>
                    <a:srgbClr val="6B7280"/>
                  </a:solidFill>
                  <a:latin typeface="Oswald"/>
                  <a:ea typeface="Oswald"/>
                  <a:cs typeface="Oswald"/>
                  <a:sym typeface="Oswald"/>
                </a:rPr>
                <a:t>ECS Fargate</a:t>
              </a:r>
            </a:p>
            <a:p>
              <a:pPr algn="l" marL="820421" indent="-410210" lvl="1">
                <a:lnSpc>
                  <a:spcPts val="3686"/>
                </a:lnSpc>
                <a:buFont typeface="Arial"/>
                <a:buChar char="•"/>
              </a:pPr>
              <a:r>
                <a:rPr lang="en-US" sz="3800">
                  <a:solidFill>
                    <a:srgbClr val="6B7280"/>
                  </a:solidFill>
                  <a:latin typeface="Oswald"/>
                  <a:ea typeface="Oswald"/>
                  <a:cs typeface="Oswald"/>
                  <a:sym typeface="Oswald"/>
                </a:rPr>
                <a:t>Application Load Balancer</a:t>
              </a:r>
            </a:p>
            <a:p>
              <a:pPr algn="l" marL="820421" indent="-410210" lvl="1">
                <a:lnSpc>
                  <a:spcPts val="3686"/>
                </a:lnSpc>
                <a:buFont typeface="Arial"/>
                <a:buChar char="•"/>
              </a:pPr>
              <a:r>
                <a:rPr lang="en-US" sz="3800">
                  <a:solidFill>
                    <a:srgbClr val="6B7280"/>
                  </a:solidFill>
                  <a:latin typeface="Oswald"/>
                  <a:ea typeface="Oswald"/>
                  <a:cs typeface="Oswald"/>
                  <a:sym typeface="Oswald"/>
                </a:rPr>
                <a:t>Service Connect</a:t>
              </a:r>
            </a:p>
            <a:p>
              <a:pPr algn="l" marL="820421" indent="-410210" lvl="1">
                <a:lnSpc>
                  <a:spcPts val="3686"/>
                </a:lnSpc>
                <a:buFont typeface="Arial"/>
                <a:buChar char="•"/>
              </a:pPr>
              <a:r>
                <a:rPr lang="en-US" sz="3800">
                  <a:solidFill>
                    <a:srgbClr val="6B7280"/>
                  </a:solidFill>
                  <a:latin typeface="Oswald"/>
                  <a:ea typeface="Oswald"/>
                  <a:cs typeface="Oswald"/>
                  <a:sym typeface="Oswald"/>
                </a:rPr>
                <a:t>RDS PostreSQL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275714" y="2595072"/>
            <a:ext cx="9983586" cy="5694429"/>
            <a:chOff x="0" y="0"/>
            <a:chExt cx="13311448" cy="759257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3311448" cy="868169"/>
              <a:chOff x="0" y="0"/>
              <a:chExt cx="2629422" cy="17149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629422" cy="171490"/>
              </a:xfrm>
              <a:custGeom>
                <a:avLst/>
                <a:gdLst/>
                <a:ahLst/>
                <a:cxnLst/>
                <a:rect r="r" b="b" t="t" l="l"/>
                <a:pathLst>
                  <a:path h="171490" w="2629422">
                    <a:moveTo>
                      <a:pt x="0" y="0"/>
                    </a:moveTo>
                    <a:lnTo>
                      <a:pt x="2629422" y="0"/>
                    </a:lnTo>
                    <a:lnTo>
                      <a:pt x="2629422" y="171490"/>
                    </a:lnTo>
                    <a:lnTo>
                      <a:pt x="0" y="171490"/>
                    </a:lnTo>
                    <a:close/>
                  </a:path>
                </a:pathLst>
              </a:custGeom>
              <a:solidFill>
                <a:srgbClr val="2F6F91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85725"/>
                <a:ext cx="2629422" cy="25721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2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0" y="59434"/>
              <a:ext cx="6507618" cy="6731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b="true" sz="2999">
                  <a:solidFill>
                    <a:srgbClr val="F5F5F5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RECURSO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6803829" y="59434"/>
              <a:ext cx="6507618" cy="6731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b="true" sz="2999">
                  <a:solidFill>
                    <a:srgbClr val="F5F5F5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USO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999489"/>
              <a:ext cx="6507618" cy="6731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ECS Cluster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998221"/>
              <a:ext cx="6507618" cy="6731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Fargate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982471"/>
              <a:ext cx="6507618" cy="6731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ALB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3966721"/>
              <a:ext cx="6507618" cy="6731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ECR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4950971"/>
              <a:ext cx="6507618" cy="6731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CloudWatch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5935221"/>
              <a:ext cx="6507618" cy="6731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SecretsManager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6919472"/>
              <a:ext cx="6507618" cy="6731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RDS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6803829" y="999489"/>
              <a:ext cx="6507618" cy="6731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Orquestación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6803829" y="1998221"/>
              <a:ext cx="6507618" cy="6731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Ejecuta Contenedores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6803829" y="2982471"/>
              <a:ext cx="6507618" cy="6731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Balanceo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6803829" y="3966721"/>
              <a:ext cx="6507618" cy="6731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Imágenes Docker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6803829" y="4950971"/>
              <a:ext cx="6507618" cy="6731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Logs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6803829" y="5935221"/>
              <a:ext cx="6507618" cy="6731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Secretos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6803829" y="6919472"/>
              <a:ext cx="6507618" cy="6731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Base de Datos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4695454" y="6826250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028700" y="1028700"/>
            <a:ext cx="5855783" cy="8229600"/>
            <a:chOff x="0" y="0"/>
            <a:chExt cx="907214" cy="12749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07214" cy="1274980"/>
            </a:xfrm>
            <a:custGeom>
              <a:avLst/>
              <a:gdLst/>
              <a:ahLst/>
              <a:cxnLst/>
              <a:rect r="r" b="b" t="t" l="l"/>
              <a:pathLst>
                <a:path h="1274980" w="907214">
                  <a:moveTo>
                    <a:pt x="0" y="0"/>
                  </a:moveTo>
                  <a:lnTo>
                    <a:pt x="907214" y="0"/>
                  </a:lnTo>
                  <a:lnTo>
                    <a:pt x="907214" y="1274980"/>
                  </a:lnTo>
                  <a:lnTo>
                    <a:pt x="0" y="1274980"/>
                  </a:lnTo>
                  <a:close/>
                </a:path>
              </a:pathLst>
            </a:custGeom>
            <a:blipFill>
              <a:blip r:embed="rId4"/>
              <a:stretch>
                <a:fillRect l="-55307" t="0" r="-55307" b="0"/>
              </a:stretch>
            </a:blipFill>
          </p:spPr>
        </p:sp>
      </p:grpSp>
      <p:sp>
        <p:nvSpPr>
          <p:cNvPr name="Freeform 25" id="25"/>
          <p:cNvSpPr/>
          <p:nvPr/>
        </p:nvSpPr>
        <p:spPr>
          <a:xfrm flipH="false" flipV="false" rot="0">
            <a:off x="-2080009" y="-1519728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7275714" y="1209675"/>
            <a:ext cx="9983586" cy="1033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760"/>
              </a:lnSpc>
            </a:pPr>
            <a:r>
              <a:rPr lang="en-US" b="true" sz="8000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INFRAESTRUCTURA AWS</a:t>
            </a:r>
          </a:p>
        </p:txBody>
      </p:sp>
      <p:sp>
        <p:nvSpPr>
          <p:cNvPr name="AutoShape 27" id="27"/>
          <p:cNvSpPr/>
          <p:nvPr/>
        </p:nvSpPr>
        <p:spPr>
          <a:xfrm>
            <a:off x="7275714" y="3252803"/>
            <a:ext cx="998358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>
            <a:off x="7275714" y="3998424"/>
            <a:ext cx="998358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7275714" y="4741374"/>
            <a:ext cx="998358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7275714" y="5484324"/>
            <a:ext cx="998358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7275714" y="6227274"/>
            <a:ext cx="998358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>
            <a:off x="7275714" y="6970224"/>
            <a:ext cx="998358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>
            <a:off x="7275714" y="7713174"/>
            <a:ext cx="998358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>
            <a:off x="12248457" y="2595069"/>
            <a:ext cx="19050" cy="569436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399316" y="-1703794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5562228"/>
            <a:ext cx="18288000" cy="4724772"/>
            <a:chOff x="0" y="0"/>
            <a:chExt cx="2833290" cy="73199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33290" cy="731991"/>
            </a:xfrm>
            <a:custGeom>
              <a:avLst/>
              <a:gdLst/>
              <a:ahLst/>
              <a:cxnLst/>
              <a:rect r="r" b="b" t="t" l="l"/>
              <a:pathLst>
                <a:path h="731991" w="2833290">
                  <a:moveTo>
                    <a:pt x="0" y="0"/>
                  </a:moveTo>
                  <a:lnTo>
                    <a:pt x="2833290" y="0"/>
                  </a:lnTo>
                  <a:lnTo>
                    <a:pt x="2833290" y="731991"/>
                  </a:lnTo>
                  <a:lnTo>
                    <a:pt x="0" y="731991"/>
                  </a:lnTo>
                  <a:close/>
                </a:path>
              </a:pathLst>
            </a:custGeom>
            <a:blipFill>
              <a:blip r:embed="rId4"/>
              <a:stretch>
                <a:fillRect l="0" t="-24891" r="0" b="-12846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698032" y="5562228"/>
            <a:ext cx="20565762" cy="4724772"/>
            <a:chOff x="0" y="0"/>
            <a:chExt cx="5416497" cy="12443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416497" cy="1244384"/>
            </a:xfrm>
            <a:custGeom>
              <a:avLst/>
              <a:gdLst/>
              <a:ahLst/>
              <a:cxnLst/>
              <a:rect r="r" b="b" t="t" l="l"/>
              <a:pathLst>
                <a:path h="1244384" w="5416497">
                  <a:moveTo>
                    <a:pt x="0" y="0"/>
                  </a:moveTo>
                  <a:lnTo>
                    <a:pt x="5416497" y="0"/>
                  </a:lnTo>
                  <a:lnTo>
                    <a:pt x="5416497" y="1244384"/>
                  </a:lnTo>
                  <a:lnTo>
                    <a:pt x="0" y="1244384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5416497" cy="1330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2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35516" y="7479169"/>
            <a:ext cx="2150881" cy="897533"/>
            <a:chOff x="0" y="0"/>
            <a:chExt cx="498032" cy="2078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98032" cy="207822"/>
            </a:xfrm>
            <a:custGeom>
              <a:avLst/>
              <a:gdLst/>
              <a:ahLst/>
              <a:cxnLst/>
              <a:rect r="r" b="b" t="t" l="l"/>
              <a:pathLst>
                <a:path h="207822" w="498032">
                  <a:moveTo>
                    <a:pt x="61190" y="0"/>
                  </a:moveTo>
                  <a:lnTo>
                    <a:pt x="436841" y="0"/>
                  </a:lnTo>
                  <a:cubicBezTo>
                    <a:pt x="453070" y="0"/>
                    <a:pt x="468634" y="6447"/>
                    <a:pt x="480109" y="17922"/>
                  </a:cubicBezTo>
                  <a:cubicBezTo>
                    <a:pt x="491585" y="29398"/>
                    <a:pt x="498032" y="44961"/>
                    <a:pt x="498032" y="61190"/>
                  </a:cubicBezTo>
                  <a:lnTo>
                    <a:pt x="498032" y="146632"/>
                  </a:lnTo>
                  <a:cubicBezTo>
                    <a:pt x="498032" y="180426"/>
                    <a:pt x="470636" y="207822"/>
                    <a:pt x="436841" y="207822"/>
                  </a:cubicBezTo>
                  <a:lnTo>
                    <a:pt x="61190" y="207822"/>
                  </a:lnTo>
                  <a:cubicBezTo>
                    <a:pt x="27396" y="207822"/>
                    <a:pt x="0" y="180426"/>
                    <a:pt x="0" y="146632"/>
                  </a:cubicBezTo>
                  <a:lnTo>
                    <a:pt x="0" y="61190"/>
                  </a:lnTo>
                  <a:cubicBezTo>
                    <a:pt x="0" y="27396"/>
                    <a:pt x="27396" y="0"/>
                    <a:pt x="61190" y="0"/>
                  </a:cubicBezTo>
                  <a:close/>
                </a:path>
              </a:pathLst>
            </a:custGeom>
            <a:solidFill>
              <a:srgbClr val="70B2E2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0"/>
              <a:ext cx="498032" cy="303072"/>
            </a:xfrm>
            <a:prstGeom prst="rect">
              <a:avLst/>
            </a:prstGeom>
          </p:spPr>
          <p:txBody>
            <a:bodyPr anchor="ctr" rtlCol="false" tIns="12700" lIns="12700" bIns="12700" rIns="12700"/>
            <a:lstStyle/>
            <a:p>
              <a:pPr algn="ctr">
                <a:lnSpc>
                  <a:spcPts val="4339"/>
                </a:lnSpc>
              </a:pPr>
              <a:r>
                <a:rPr lang="en-US" b="true" sz="3099">
                  <a:solidFill>
                    <a:srgbClr val="F5F5F5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GitHub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981269" y="7204385"/>
            <a:ext cx="2150881" cy="1440458"/>
            <a:chOff x="0" y="0"/>
            <a:chExt cx="498032" cy="3335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98032" cy="333535"/>
            </a:xfrm>
            <a:custGeom>
              <a:avLst/>
              <a:gdLst/>
              <a:ahLst/>
              <a:cxnLst/>
              <a:rect r="r" b="b" t="t" l="l"/>
              <a:pathLst>
                <a:path h="333535" w="498032">
                  <a:moveTo>
                    <a:pt x="61190" y="0"/>
                  </a:moveTo>
                  <a:lnTo>
                    <a:pt x="436841" y="0"/>
                  </a:lnTo>
                  <a:cubicBezTo>
                    <a:pt x="453070" y="0"/>
                    <a:pt x="468634" y="6447"/>
                    <a:pt x="480109" y="17922"/>
                  </a:cubicBezTo>
                  <a:cubicBezTo>
                    <a:pt x="491585" y="29398"/>
                    <a:pt x="498032" y="44961"/>
                    <a:pt x="498032" y="61190"/>
                  </a:cubicBezTo>
                  <a:lnTo>
                    <a:pt x="498032" y="272345"/>
                  </a:lnTo>
                  <a:cubicBezTo>
                    <a:pt x="498032" y="306139"/>
                    <a:pt x="470636" y="333535"/>
                    <a:pt x="436841" y="333535"/>
                  </a:cubicBezTo>
                  <a:lnTo>
                    <a:pt x="61190" y="333535"/>
                  </a:lnTo>
                  <a:cubicBezTo>
                    <a:pt x="27396" y="333535"/>
                    <a:pt x="0" y="306139"/>
                    <a:pt x="0" y="272345"/>
                  </a:cubicBezTo>
                  <a:lnTo>
                    <a:pt x="0" y="61190"/>
                  </a:lnTo>
                  <a:cubicBezTo>
                    <a:pt x="0" y="27396"/>
                    <a:pt x="27396" y="0"/>
                    <a:pt x="61190" y="0"/>
                  </a:cubicBezTo>
                  <a:close/>
                </a:path>
              </a:pathLst>
            </a:custGeom>
            <a:solidFill>
              <a:srgbClr val="5FAF9C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0"/>
              <a:ext cx="498032" cy="428785"/>
            </a:xfrm>
            <a:prstGeom prst="rect">
              <a:avLst/>
            </a:prstGeom>
          </p:spPr>
          <p:txBody>
            <a:bodyPr anchor="ctr" rtlCol="false" tIns="12700" lIns="12700" bIns="12700" rIns="12700"/>
            <a:lstStyle/>
            <a:p>
              <a:pPr algn="ctr">
                <a:lnSpc>
                  <a:spcPts val="4339"/>
                </a:lnSpc>
              </a:pPr>
              <a:r>
                <a:rPr lang="en-US" b="true" sz="3099">
                  <a:solidFill>
                    <a:srgbClr val="F5F5F5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GitHub Actions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526001" y="7204385"/>
            <a:ext cx="2150881" cy="1440458"/>
            <a:chOff x="0" y="0"/>
            <a:chExt cx="498032" cy="33353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98032" cy="333535"/>
            </a:xfrm>
            <a:custGeom>
              <a:avLst/>
              <a:gdLst/>
              <a:ahLst/>
              <a:cxnLst/>
              <a:rect r="r" b="b" t="t" l="l"/>
              <a:pathLst>
                <a:path h="333535" w="498032">
                  <a:moveTo>
                    <a:pt x="61190" y="0"/>
                  </a:moveTo>
                  <a:lnTo>
                    <a:pt x="436841" y="0"/>
                  </a:lnTo>
                  <a:cubicBezTo>
                    <a:pt x="453070" y="0"/>
                    <a:pt x="468634" y="6447"/>
                    <a:pt x="480109" y="17922"/>
                  </a:cubicBezTo>
                  <a:cubicBezTo>
                    <a:pt x="491585" y="29398"/>
                    <a:pt x="498032" y="44961"/>
                    <a:pt x="498032" y="61190"/>
                  </a:cubicBezTo>
                  <a:lnTo>
                    <a:pt x="498032" y="272345"/>
                  </a:lnTo>
                  <a:cubicBezTo>
                    <a:pt x="498032" y="306139"/>
                    <a:pt x="470636" y="333535"/>
                    <a:pt x="436841" y="333535"/>
                  </a:cubicBezTo>
                  <a:lnTo>
                    <a:pt x="61190" y="333535"/>
                  </a:lnTo>
                  <a:cubicBezTo>
                    <a:pt x="27396" y="333535"/>
                    <a:pt x="0" y="306139"/>
                    <a:pt x="0" y="272345"/>
                  </a:cubicBezTo>
                  <a:lnTo>
                    <a:pt x="0" y="61190"/>
                  </a:lnTo>
                  <a:cubicBezTo>
                    <a:pt x="0" y="27396"/>
                    <a:pt x="27396" y="0"/>
                    <a:pt x="61190" y="0"/>
                  </a:cubicBezTo>
                  <a:close/>
                </a:path>
              </a:pathLst>
            </a:custGeom>
            <a:solidFill>
              <a:srgbClr val="F2A65A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0"/>
              <a:ext cx="498032" cy="428785"/>
            </a:xfrm>
            <a:prstGeom prst="rect">
              <a:avLst/>
            </a:prstGeom>
          </p:spPr>
          <p:txBody>
            <a:bodyPr anchor="ctr" rtlCol="false" tIns="12700" lIns="12700" bIns="12700" rIns="12700"/>
            <a:lstStyle/>
            <a:p>
              <a:pPr algn="ctr">
                <a:lnSpc>
                  <a:spcPts val="4339"/>
                </a:lnSpc>
              </a:pPr>
              <a:r>
                <a:rPr lang="en-US" b="true" sz="3099">
                  <a:solidFill>
                    <a:srgbClr val="F5F5F5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Docker Build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070733" y="7204385"/>
            <a:ext cx="2150881" cy="1440458"/>
            <a:chOff x="0" y="0"/>
            <a:chExt cx="498032" cy="33353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98032" cy="333535"/>
            </a:xfrm>
            <a:custGeom>
              <a:avLst/>
              <a:gdLst/>
              <a:ahLst/>
              <a:cxnLst/>
              <a:rect r="r" b="b" t="t" l="l"/>
              <a:pathLst>
                <a:path h="333535" w="498032">
                  <a:moveTo>
                    <a:pt x="61190" y="0"/>
                  </a:moveTo>
                  <a:lnTo>
                    <a:pt x="436841" y="0"/>
                  </a:lnTo>
                  <a:cubicBezTo>
                    <a:pt x="453070" y="0"/>
                    <a:pt x="468634" y="6447"/>
                    <a:pt x="480109" y="17922"/>
                  </a:cubicBezTo>
                  <a:cubicBezTo>
                    <a:pt x="491585" y="29398"/>
                    <a:pt x="498032" y="44961"/>
                    <a:pt x="498032" y="61190"/>
                  </a:cubicBezTo>
                  <a:lnTo>
                    <a:pt x="498032" y="272345"/>
                  </a:lnTo>
                  <a:cubicBezTo>
                    <a:pt x="498032" y="306139"/>
                    <a:pt x="470636" y="333535"/>
                    <a:pt x="436841" y="333535"/>
                  </a:cubicBezTo>
                  <a:lnTo>
                    <a:pt x="61190" y="333535"/>
                  </a:lnTo>
                  <a:cubicBezTo>
                    <a:pt x="27396" y="333535"/>
                    <a:pt x="0" y="306139"/>
                    <a:pt x="0" y="272345"/>
                  </a:cubicBezTo>
                  <a:lnTo>
                    <a:pt x="0" y="61190"/>
                  </a:lnTo>
                  <a:cubicBezTo>
                    <a:pt x="0" y="27396"/>
                    <a:pt x="27396" y="0"/>
                    <a:pt x="61190" y="0"/>
                  </a:cubicBezTo>
                  <a:close/>
                </a:path>
              </a:pathLst>
            </a:custGeom>
            <a:solidFill>
              <a:srgbClr val="6B7280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0"/>
              <a:ext cx="498032" cy="428785"/>
            </a:xfrm>
            <a:prstGeom prst="rect">
              <a:avLst/>
            </a:prstGeom>
          </p:spPr>
          <p:txBody>
            <a:bodyPr anchor="ctr" rtlCol="false" tIns="12700" lIns="12700" bIns="12700" rIns="12700"/>
            <a:lstStyle/>
            <a:p>
              <a:pPr algn="ctr">
                <a:lnSpc>
                  <a:spcPts val="4339"/>
                </a:lnSpc>
              </a:pPr>
              <a:r>
                <a:rPr lang="en-US" b="true" sz="3099">
                  <a:solidFill>
                    <a:srgbClr val="F5F5F5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Amazon ECR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612139" y="7204385"/>
            <a:ext cx="2150881" cy="1440458"/>
            <a:chOff x="0" y="0"/>
            <a:chExt cx="498032" cy="33353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98032" cy="333535"/>
            </a:xfrm>
            <a:custGeom>
              <a:avLst/>
              <a:gdLst/>
              <a:ahLst/>
              <a:cxnLst/>
              <a:rect r="r" b="b" t="t" l="l"/>
              <a:pathLst>
                <a:path h="333535" w="498032">
                  <a:moveTo>
                    <a:pt x="61190" y="0"/>
                  </a:moveTo>
                  <a:lnTo>
                    <a:pt x="436841" y="0"/>
                  </a:lnTo>
                  <a:cubicBezTo>
                    <a:pt x="453070" y="0"/>
                    <a:pt x="468634" y="6447"/>
                    <a:pt x="480109" y="17922"/>
                  </a:cubicBezTo>
                  <a:cubicBezTo>
                    <a:pt x="491585" y="29398"/>
                    <a:pt x="498032" y="44961"/>
                    <a:pt x="498032" y="61190"/>
                  </a:cubicBezTo>
                  <a:lnTo>
                    <a:pt x="498032" y="272345"/>
                  </a:lnTo>
                  <a:cubicBezTo>
                    <a:pt x="498032" y="306139"/>
                    <a:pt x="470636" y="333535"/>
                    <a:pt x="436841" y="333535"/>
                  </a:cubicBezTo>
                  <a:lnTo>
                    <a:pt x="61190" y="333535"/>
                  </a:lnTo>
                  <a:cubicBezTo>
                    <a:pt x="27396" y="333535"/>
                    <a:pt x="0" y="306139"/>
                    <a:pt x="0" y="272345"/>
                  </a:cubicBezTo>
                  <a:lnTo>
                    <a:pt x="0" y="61190"/>
                  </a:lnTo>
                  <a:cubicBezTo>
                    <a:pt x="0" y="27396"/>
                    <a:pt x="27396" y="0"/>
                    <a:pt x="61190" y="0"/>
                  </a:cubicBezTo>
                  <a:close/>
                </a:path>
              </a:pathLst>
            </a:custGeom>
            <a:solidFill>
              <a:srgbClr val="70B2E2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0"/>
              <a:ext cx="498032" cy="428785"/>
            </a:xfrm>
            <a:prstGeom prst="rect">
              <a:avLst/>
            </a:prstGeom>
          </p:spPr>
          <p:txBody>
            <a:bodyPr anchor="ctr" rtlCol="false" tIns="12700" lIns="12700" bIns="12700" rIns="12700"/>
            <a:lstStyle/>
            <a:p>
              <a:pPr algn="ctr">
                <a:lnSpc>
                  <a:spcPts val="4339"/>
                </a:lnSpc>
              </a:pPr>
              <a:r>
                <a:rPr lang="en-US" b="true" sz="3099">
                  <a:solidFill>
                    <a:srgbClr val="F5F5F5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Task Definition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153545" y="7204385"/>
            <a:ext cx="2150881" cy="1440458"/>
            <a:chOff x="0" y="0"/>
            <a:chExt cx="498032" cy="33353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98032" cy="333535"/>
            </a:xfrm>
            <a:custGeom>
              <a:avLst/>
              <a:gdLst/>
              <a:ahLst/>
              <a:cxnLst/>
              <a:rect r="r" b="b" t="t" l="l"/>
              <a:pathLst>
                <a:path h="333535" w="498032">
                  <a:moveTo>
                    <a:pt x="61190" y="0"/>
                  </a:moveTo>
                  <a:lnTo>
                    <a:pt x="436841" y="0"/>
                  </a:lnTo>
                  <a:cubicBezTo>
                    <a:pt x="453070" y="0"/>
                    <a:pt x="468634" y="6447"/>
                    <a:pt x="480109" y="17922"/>
                  </a:cubicBezTo>
                  <a:cubicBezTo>
                    <a:pt x="491585" y="29398"/>
                    <a:pt x="498032" y="44961"/>
                    <a:pt x="498032" y="61190"/>
                  </a:cubicBezTo>
                  <a:lnTo>
                    <a:pt x="498032" y="272345"/>
                  </a:lnTo>
                  <a:cubicBezTo>
                    <a:pt x="498032" y="306139"/>
                    <a:pt x="470636" y="333535"/>
                    <a:pt x="436841" y="333535"/>
                  </a:cubicBezTo>
                  <a:lnTo>
                    <a:pt x="61190" y="333535"/>
                  </a:lnTo>
                  <a:cubicBezTo>
                    <a:pt x="27396" y="333535"/>
                    <a:pt x="0" y="306139"/>
                    <a:pt x="0" y="272345"/>
                  </a:cubicBezTo>
                  <a:lnTo>
                    <a:pt x="0" y="61190"/>
                  </a:lnTo>
                  <a:cubicBezTo>
                    <a:pt x="0" y="27396"/>
                    <a:pt x="27396" y="0"/>
                    <a:pt x="61190" y="0"/>
                  </a:cubicBezTo>
                  <a:close/>
                </a:path>
              </a:pathLst>
            </a:custGeom>
            <a:solidFill>
              <a:srgbClr val="5FAF9C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0"/>
              <a:ext cx="498032" cy="428785"/>
            </a:xfrm>
            <a:prstGeom prst="rect">
              <a:avLst/>
            </a:prstGeom>
          </p:spPr>
          <p:txBody>
            <a:bodyPr anchor="ctr" rtlCol="false" tIns="12700" lIns="12700" bIns="12700" rIns="12700"/>
            <a:lstStyle/>
            <a:p>
              <a:pPr algn="ctr">
                <a:lnSpc>
                  <a:spcPts val="4339"/>
                </a:lnSpc>
              </a:pPr>
              <a:r>
                <a:rPr lang="en-US" b="true" sz="3099">
                  <a:solidFill>
                    <a:srgbClr val="F5F5F5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ECS Service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5698277" y="7475847"/>
            <a:ext cx="2150881" cy="897533"/>
            <a:chOff x="0" y="0"/>
            <a:chExt cx="498032" cy="20782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98032" cy="207822"/>
            </a:xfrm>
            <a:custGeom>
              <a:avLst/>
              <a:gdLst/>
              <a:ahLst/>
              <a:cxnLst/>
              <a:rect r="r" b="b" t="t" l="l"/>
              <a:pathLst>
                <a:path h="207822" w="498032">
                  <a:moveTo>
                    <a:pt x="61190" y="0"/>
                  </a:moveTo>
                  <a:lnTo>
                    <a:pt x="436841" y="0"/>
                  </a:lnTo>
                  <a:cubicBezTo>
                    <a:pt x="453070" y="0"/>
                    <a:pt x="468634" y="6447"/>
                    <a:pt x="480109" y="17922"/>
                  </a:cubicBezTo>
                  <a:cubicBezTo>
                    <a:pt x="491585" y="29398"/>
                    <a:pt x="498032" y="44961"/>
                    <a:pt x="498032" y="61190"/>
                  </a:cubicBezTo>
                  <a:lnTo>
                    <a:pt x="498032" y="146632"/>
                  </a:lnTo>
                  <a:cubicBezTo>
                    <a:pt x="498032" y="180426"/>
                    <a:pt x="470636" y="207822"/>
                    <a:pt x="436841" y="207822"/>
                  </a:cubicBezTo>
                  <a:lnTo>
                    <a:pt x="61190" y="207822"/>
                  </a:lnTo>
                  <a:cubicBezTo>
                    <a:pt x="27396" y="207822"/>
                    <a:pt x="0" y="180426"/>
                    <a:pt x="0" y="146632"/>
                  </a:cubicBezTo>
                  <a:lnTo>
                    <a:pt x="0" y="61190"/>
                  </a:lnTo>
                  <a:cubicBezTo>
                    <a:pt x="0" y="27396"/>
                    <a:pt x="27396" y="0"/>
                    <a:pt x="61190" y="0"/>
                  </a:cubicBezTo>
                  <a:close/>
                </a:path>
              </a:pathLst>
            </a:custGeom>
            <a:solidFill>
              <a:srgbClr val="F2A65A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0"/>
              <a:ext cx="498032" cy="303072"/>
            </a:xfrm>
            <a:prstGeom prst="rect">
              <a:avLst/>
            </a:prstGeom>
          </p:spPr>
          <p:txBody>
            <a:bodyPr anchor="ctr" rtlCol="false" tIns="12700" lIns="12700" bIns="12700" rIns="12700"/>
            <a:lstStyle/>
            <a:p>
              <a:pPr algn="ctr">
                <a:lnSpc>
                  <a:spcPts val="4339"/>
                </a:lnSpc>
              </a:pPr>
              <a:r>
                <a:rPr lang="en-US" b="true" sz="3099">
                  <a:solidFill>
                    <a:srgbClr val="F5F5F5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APL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 flipV="true">
            <a:off x="2586397" y="7924614"/>
            <a:ext cx="394872" cy="3321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0" id="30"/>
          <p:cNvSpPr/>
          <p:nvPr/>
        </p:nvSpPr>
        <p:spPr>
          <a:xfrm>
            <a:off x="5132151" y="7924614"/>
            <a:ext cx="393851" cy="0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1" id="31"/>
          <p:cNvSpPr/>
          <p:nvPr/>
        </p:nvSpPr>
        <p:spPr>
          <a:xfrm>
            <a:off x="7676882" y="7924614"/>
            <a:ext cx="393851" cy="0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2" id="32"/>
          <p:cNvSpPr/>
          <p:nvPr/>
        </p:nvSpPr>
        <p:spPr>
          <a:xfrm>
            <a:off x="10221614" y="7924614"/>
            <a:ext cx="390525" cy="0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3" id="33"/>
          <p:cNvSpPr/>
          <p:nvPr/>
        </p:nvSpPr>
        <p:spPr>
          <a:xfrm>
            <a:off x="12763020" y="7924614"/>
            <a:ext cx="390525" cy="0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4" id="34"/>
          <p:cNvSpPr/>
          <p:nvPr/>
        </p:nvSpPr>
        <p:spPr>
          <a:xfrm>
            <a:off x="15304427" y="7924614"/>
            <a:ext cx="393851" cy="0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35" id="35"/>
          <p:cNvSpPr txBox="true"/>
          <p:nvPr/>
        </p:nvSpPr>
        <p:spPr>
          <a:xfrm rot="0">
            <a:off x="516925" y="2677706"/>
            <a:ext cx="17258498" cy="1591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41"/>
              </a:lnSpc>
            </a:pPr>
            <a:r>
              <a:rPr lang="en-US" b="true" sz="12207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DESPLIEGUE DE SERVICIOS</a:t>
            </a: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1675887" y="8043979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0" y="4114800"/>
                </a:moveTo>
                <a:lnTo>
                  <a:pt x="6217417" y="4114800"/>
                </a:lnTo>
                <a:lnTo>
                  <a:pt x="6217417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309752"/>
            <a:ext cx="18288000" cy="3590451"/>
          </a:xfrm>
          <a:custGeom>
            <a:avLst/>
            <a:gdLst/>
            <a:ahLst/>
            <a:cxnLst/>
            <a:rect r="r" b="b" t="t" l="l"/>
            <a:pathLst>
              <a:path h="3590451" w="18288000">
                <a:moveTo>
                  <a:pt x="0" y="0"/>
                </a:moveTo>
                <a:lnTo>
                  <a:pt x="18288000" y="0"/>
                </a:lnTo>
                <a:lnTo>
                  <a:pt x="18288000" y="3590451"/>
                </a:lnTo>
                <a:lnTo>
                  <a:pt x="0" y="35904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60845" r="0" b="-178104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0"/>
            <a:ext cx="18288000" cy="3279978"/>
            <a:chOff x="0" y="0"/>
            <a:chExt cx="4816593" cy="86386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863863"/>
            </a:xfrm>
            <a:custGeom>
              <a:avLst/>
              <a:gdLst/>
              <a:ahLst/>
              <a:cxnLst/>
              <a:rect r="r" b="b" t="t" l="l"/>
              <a:pathLst>
                <a:path h="86386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63863"/>
                  </a:lnTo>
                  <a:lnTo>
                    <a:pt x="0" y="863863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3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4816593" cy="9495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2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1149900"/>
            <a:ext cx="16194579" cy="1180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26"/>
              </a:lnSpc>
            </a:pPr>
            <a:r>
              <a:rPr lang="en-US" b="true" sz="9099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COMUNICACION ENTRE SERVICIOS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354465" y="4681095"/>
            <a:ext cx="1543050" cy="154305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2F6F9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17475"/>
              <a:ext cx="711200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2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3821644"/>
            <a:ext cx="7305747" cy="3261952"/>
            <a:chOff x="0" y="0"/>
            <a:chExt cx="9740996" cy="434927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1337242" y="2377171"/>
              <a:ext cx="7066512" cy="1972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6" indent="-302258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Mayor complejidad</a:t>
              </a:r>
            </a:p>
            <a:p>
              <a:pPr algn="l" marL="604516" indent="-302258" lvl="1">
                <a:lnSpc>
                  <a:spcPts val="391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Problemas de estabilidad dutante la migración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104775"/>
              <a:ext cx="9740996" cy="7897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59"/>
                </a:lnSpc>
                <a:spcBef>
                  <a:spcPct val="0"/>
                </a:spcBef>
              </a:pPr>
              <a:r>
                <a:rPr lang="en-US" b="true" sz="33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ANTES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870948"/>
              <a:ext cx="9740996" cy="12490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559"/>
                </a:lnSpc>
                <a:spcBef>
                  <a:spcPct val="0"/>
                </a:spcBef>
              </a:pPr>
              <a:r>
                <a:rPr lang="en-US" b="true" sz="5399">
                  <a:solidFill>
                    <a:srgbClr val="F2A65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Eureka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953553" y="3692358"/>
            <a:ext cx="7305747" cy="4750732"/>
            <a:chOff x="0" y="0"/>
            <a:chExt cx="9740996" cy="6334309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1013953" y="3701810"/>
              <a:ext cx="7713090" cy="26324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6" indent="-302258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DNS interno</a:t>
              </a:r>
            </a:p>
            <a:p>
              <a:pPr algn="l" marL="604516" indent="-302258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Descubrimiento automático</a:t>
              </a:r>
            </a:p>
            <a:p>
              <a:pPr algn="l" marL="604516" indent="-302258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Comunicación privada</a:t>
              </a:r>
            </a:p>
            <a:p>
              <a:pPr algn="l" marL="604516" indent="-302258" lvl="1">
                <a:lnSpc>
                  <a:spcPts val="391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Menor complejidad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175597" y="-104775"/>
              <a:ext cx="7389801" cy="7897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59"/>
                </a:lnSpc>
                <a:spcBef>
                  <a:spcPct val="0"/>
                </a:spcBef>
              </a:pPr>
              <a:r>
                <a:rPr lang="en-US" b="true" sz="33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AHORA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925587"/>
              <a:ext cx="9740996" cy="25190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559"/>
                </a:lnSpc>
              </a:pPr>
              <a:r>
                <a:rPr lang="en-US" b="true" sz="5399">
                  <a:solidFill>
                    <a:srgbClr val="2F6F9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ECS Service </a:t>
              </a:r>
            </a:p>
            <a:p>
              <a:pPr algn="ctr">
                <a:lnSpc>
                  <a:spcPts val="7559"/>
                </a:lnSpc>
                <a:spcBef>
                  <a:spcPct val="0"/>
                </a:spcBef>
              </a:pPr>
              <a:r>
                <a:rPr lang="en-US" b="true" sz="5399">
                  <a:solidFill>
                    <a:srgbClr val="2F6F9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Connect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560193" y="8852665"/>
            <a:ext cx="11131594" cy="1246630"/>
            <a:chOff x="0" y="0"/>
            <a:chExt cx="2931778" cy="32833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931778" cy="328330"/>
            </a:xfrm>
            <a:custGeom>
              <a:avLst/>
              <a:gdLst/>
              <a:ahLst/>
              <a:cxnLst/>
              <a:rect r="r" b="b" t="t" l="l"/>
              <a:pathLst>
                <a:path h="328330" w="2931778">
                  <a:moveTo>
                    <a:pt x="11823" y="0"/>
                  </a:moveTo>
                  <a:lnTo>
                    <a:pt x="2919955" y="0"/>
                  </a:lnTo>
                  <a:cubicBezTo>
                    <a:pt x="2926484" y="0"/>
                    <a:pt x="2931778" y="5293"/>
                    <a:pt x="2931778" y="11823"/>
                  </a:cubicBezTo>
                  <a:lnTo>
                    <a:pt x="2931778" y="316507"/>
                  </a:lnTo>
                  <a:cubicBezTo>
                    <a:pt x="2931778" y="323037"/>
                    <a:pt x="2926484" y="328330"/>
                    <a:pt x="2919955" y="328330"/>
                  </a:cubicBezTo>
                  <a:lnTo>
                    <a:pt x="11823" y="328330"/>
                  </a:lnTo>
                  <a:cubicBezTo>
                    <a:pt x="8688" y="328330"/>
                    <a:pt x="5680" y="327085"/>
                    <a:pt x="3463" y="324867"/>
                  </a:cubicBezTo>
                  <a:cubicBezTo>
                    <a:pt x="1246" y="322650"/>
                    <a:pt x="0" y="319643"/>
                    <a:pt x="0" y="316507"/>
                  </a:cubicBezTo>
                  <a:lnTo>
                    <a:pt x="0" y="11823"/>
                  </a:lnTo>
                  <a:cubicBezTo>
                    <a:pt x="0" y="8688"/>
                    <a:pt x="1246" y="5680"/>
                    <a:pt x="3463" y="3463"/>
                  </a:cubicBezTo>
                  <a:cubicBezTo>
                    <a:pt x="5680" y="1246"/>
                    <a:pt x="8688" y="0"/>
                    <a:pt x="11823" y="0"/>
                  </a:cubicBezTo>
                  <a:close/>
                </a:path>
              </a:pathLst>
            </a:custGeom>
            <a:solidFill>
              <a:srgbClr val="E1E1E1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2931778" cy="3378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9"/>
                </a:lnSpc>
              </a:pPr>
              <a:r>
                <a:rPr lang="en-US" sz="2999">
                  <a:solidFill>
                    <a:srgbClr val="6B7280"/>
                  </a:solidFill>
                  <a:latin typeface="Poppins"/>
                  <a:ea typeface="Poppins"/>
                  <a:cs typeface="Poppins"/>
                  <a:sym typeface="Poppins"/>
                </a:rPr>
                <a:t>Todos los microservicios se comunican mediante DNS privado, sin exponer servicios a internet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597698" y="-1769921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3108709" y="7013575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549968" y="1285875"/>
            <a:ext cx="9188064" cy="1582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36"/>
              </a:lnSpc>
            </a:pPr>
            <a:r>
              <a:rPr lang="en-US" b="true" sz="12099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AUTOSCALING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138284" y="8816975"/>
            <a:ext cx="6121016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Grupo Cordillera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860263" y="3212974"/>
            <a:ext cx="12567474" cy="2244187"/>
            <a:chOff x="0" y="0"/>
            <a:chExt cx="16756631" cy="2992249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4637840" cy="2992249"/>
              <a:chOff x="0" y="0"/>
              <a:chExt cx="719913" cy="464475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719913" cy="464475"/>
              </a:xfrm>
              <a:custGeom>
                <a:avLst/>
                <a:gdLst/>
                <a:ahLst/>
                <a:cxnLst/>
                <a:rect r="r" b="b" t="t" l="l"/>
                <a:pathLst>
                  <a:path h="464475" w="719913">
                    <a:moveTo>
                      <a:pt x="48149" y="0"/>
                    </a:moveTo>
                    <a:lnTo>
                      <a:pt x="671764" y="0"/>
                    </a:lnTo>
                    <a:cubicBezTo>
                      <a:pt x="698356" y="0"/>
                      <a:pt x="719913" y="21557"/>
                      <a:pt x="719913" y="48149"/>
                    </a:cubicBezTo>
                    <a:lnTo>
                      <a:pt x="719913" y="416325"/>
                    </a:lnTo>
                    <a:cubicBezTo>
                      <a:pt x="719913" y="429096"/>
                      <a:pt x="714840" y="441342"/>
                      <a:pt x="705811" y="450372"/>
                    </a:cubicBezTo>
                    <a:cubicBezTo>
                      <a:pt x="696781" y="459402"/>
                      <a:pt x="684534" y="464475"/>
                      <a:pt x="671764" y="464475"/>
                    </a:cubicBezTo>
                    <a:lnTo>
                      <a:pt x="48149" y="464475"/>
                    </a:lnTo>
                    <a:cubicBezTo>
                      <a:pt x="35379" y="464475"/>
                      <a:pt x="23132" y="459402"/>
                      <a:pt x="14103" y="450372"/>
                    </a:cubicBezTo>
                    <a:cubicBezTo>
                      <a:pt x="5073" y="441342"/>
                      <a:pt x="0" y="429096"/>
                      <a:pt x="0" y="416325"/>
                    </a:cubicBezTo>
                    <a:lnTo>
                      <a:pt x="0" y="48149"/>
                    </a:lnTo>
                    <a:cubicBezTo>
                      <a:pt x="0" y="35379"/>
                      <a:pt x="5073" y="23132"/>
                      <a:pt x="14103" y="14103"/>
                    </a:cubicBezTo>
                    <a:cubicBezTo>
                      <a:pt x="23132" y="5073"/>
                      <a:pt x="35379" y="0"/>
                      <a:pt x="48149" y="0"/>
                    </a:cubicBezTo>
                    <a:close/>
                  </a:path>
                </a:pathLst>
              </a:custGeom>
              <a:solidFill>
                <a:srgbClr val="2F6F91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123825"/>
                <a:ext cx="719913" cy="58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289"/>
                  </a:lnSpc>
                </a:pPr>
                <a:r>
                  <a:rPr lang="en-US" sz="2599" b="true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CPU &gt; 60%</a:t>
                </a:r>
              </a:p>
              <a:p>
                <a:pPr algn="ctr">
                  <a:lnSpc>
                    <a:spcPts val="4289"/>
                  </a:lnSpc>
                </a:pPr>
                <a:r>
                  <a:rPr lang="en-US" b="true" sz="2599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Memoria &gt; 70%</a:t>
                </a: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6058765" y="0"/>
              <a:ext cx="4637840" cy="2992249"/>
              <a:chOff x="0" y="0"/>
              <a:chExt cx="719913" cy="46447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719913" cy="464475"/>
              </a:xfrm>
              <a:custGeom>
                <a:avLst/>
                <a:gdLst/>
                <a:ahLst/>
                <a:cxnLst/>
                <a:rect r="r" b="b" t="t" l="l"/>
                <a:pathLst>
                  <a:path h="464475" w="719913">
                    <a:moveTo>
                      <a:pt x="48149" y="0"/>
                    </a:moveTo>
                    <a:lnTo>
                      <a:pt x="671764" y="0"/>
                    </a:lnTo>
                    <a:cubicBezTo>
                      <a:pt x="698356" y="0"/>
                      <a:pt x="719913" y="21557"/>
                      <a:pt x="719913" y="48149"/>
                    </a:cubicBezTo>
                    <a:lnTo>
                      <a:pt x="719913" y="416325"/>
                    </a:lnTo>
                    <a:cubicBezTo>
                      <a:pt x="719913" y="429096"/>
                      <a:pt x="714840" y="441342"/>
                      <a:pt x="705811" y="450372"/>
                    </a:cubicBezTo>
                    <a:cubicBezTo>
                      <a:pt x="696781" y="459402"/>
                      <a:pt x="684534" y="464475"/>
                      <a:pt x="671764" y="464475"/>
                    </a:cubicBezTo>
                    <a:lnTo>
                      <a:pt x="48149" y="464475"/>
                    </a:lnTo>
                    <a:cubicBezTo>
                      <a:pt x="35379" y="464475"/>
                      <a:pt x="23132" y="459402"/>
                      <a:pt x="14103" y="450372"/>
                    </a:cubicBezTo>
                    <a:cubicBezTo>
                      <a:pt x="5073" y="441342"/>
                      <a:pt x="0" y="429096"/>
                      <a:pt x="0" y="416325"/>
                    </a:cubicBezTo>
                    <a:lnTo>
                      <a:pt x="0" y="48149"/>
                    </a:lnTo>
                    <a:cubicBezTo>
                      <a:pt x="0" y="35379"/>
                      <a:pt x="5073" y="23132"/>
                      <a:pt x="14103" y="14103"/>
                    </a:cubicBezTo>
                    <a:cubicBezTo>
                      <a:pt x="23132" y="5073"/>
                      <a:pt x="35379" y="0"/>
                      <a:pt x="48149" y="0"/>
                    </a:cubicBezTo>
                    <a:close/>
                  </a:path>
                </a:pathLst>
              </a:custGeom>
              <a:solidFill>
                <a:srgbClr val="F2A65A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142875"/>
                <a:ext cx="719913" cy="6073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784"/>
                  </a:lnSpc>
                </a:pPr>
                <a:r>
                  <a:rPr lang="en-US" sz="2899" b="true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Nueva </a:t>
                </a:r>
              </a:p>
              <a:p>
                <a:pPr algn="ctr">
                  <a:lnSpc>
                    <a:spcPts val="4784"/>
                  </a:lnSpc>
                </a:pPr>
                <a:r>
                  <a:rPr lang="en-US" b="true" sz="2899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Task</a:t>
                </a: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12118792" y="0"/>
              <a:ext cx="4637840" cy="2992249"/>
              <a:chOff x="0" y="0"/>
              <a:chExt cx="719913" cy="464475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719913" cy="464475"/>
              </a:xfrm>
              <a:custGeom>
                <a:avLst/>
                <a:gdLst/>
                <a:ahLst/>
                <a:cxnLst/>
                <a:rect r="r" b="b" t="t" l="l"/>
                <a:pathLst>
                  <a:path h="464475" w="719913">
                    <a:moveTo>
                      <a:pt x="48149" y="0"/>
                    </a:moveTo>
                    <a:lnTo>
                      <a:pt x="671764" y="0"/>
                    </a:lnTo>
                    <a:cubicBezTo>
                      <a:pt x="698356" y="0"/>
                      <a:pt x="719913" y="21557"/>
                      <a:pt x="719913" y="48149"/>
                    </a:cubicBezTo>
                    <a:lnTo>
                      <a:pt x="719913" y="416325"/>
                    </a:lnTo>
                    <a:cubicBezTo>
                      <a:pt x="719913" y="429096"/>
                      <a:pt x="714840" y="441342"/>
                      <a:pt x="705811" y="450372"/>
                    </a:cubicBezTo>
                    <a:cubicBezTo>
                      <a:pt x="696781" y="459402"/>
                      <a:pt x="684534" y="464475"/>
                      <a:pt x="671764" y="464475"/>
                    </a:cubicBezTo>
                    <a:lnTo>
                      <a:pt x="48149" y="464475"/>
                    </a:lnTo>
                    <a:cubicBezTo>
                      <a:pt x="35379" y="464475"/>
                      <a:pt x="23132" y="459402"/>
                      <a:pt x="14103" y="450372"/>
                    </a:cubicBezTo>
                    <a:cubicBezTo>
                      <a:pt x="5073" y="441342"/>
                      <a:pt x="0" y="429096"/>
                      <a:pt x="0" y="416325"/>
                    </a:cubicBezTo>
                    <a:lnTo>
                      <a:pt x="0" y="48149"/>
                    </a:lnTo>
                    <a:cubicBezTo>
                      <a:pt x="0" y="35379"/>
                      <a:pt x="5073" y="23132"/>
                      <a:pt x="14103" y="14103"/>
                    </a:cubicBezTo>
                    <a:cubicBezTo>
                      <a:pt x="23132" y="5073"/>
                      <a:pt x="35379" y="0"/>
                      <a:pt x="48149" y="0"/>
                    </a:cubicBezTo>
                    <a:close/>
                  </a:path>
                </a:pathLst>
              </a:custGeom>
              <a:solidFill>
                <a:srgbClr val="5FAF9C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142875"/>
                <a:ext cx="719913" cy="6073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784"/>
                  </a:lnSpc>
                </a:pPr>
                <a:r>
                  <a:rPr lang="en-US" b="true" sz="2899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Mayor Capacidad</a:t>
                </a: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4818175" y="793078"/>
              <a:ext cx="1060254" cy="1406094"/>
              <a:chOff x="0" y="0"/>
              <a:chExt cx="660462" cy="875895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660462" cy="875895"/>
              </a:xfrm>
              <a:custGeom>
                <a:avLst/>
                <a:gdLst/>
                <a:ahLst/>
                <a:cxnLst/>
                <a:rect r="r" b="b" t="t" l="l"/>
                <a:pathLst>
                  <a:path h="875895" w="660462">
                    <a:moveTo>
                      <a:pt x="660462" y="437947"/>
                    </a:moveTo>
                    <a:lnTo>
                      <a:pt x="254062" y="0"/>
                    </a:lnTo>
                    <a:lnTo>
                      <a:pt x="254062" y="203200"/>
                    </a:lnTo>
                    <a:lnTo>
                      <a:pt x="0" y="203200"/>
                    </a:lnTo>
                    <a:lnTo>
                      <a:pt x="0" y="672695"/>
                    </a:lnTo>
                    <a:lnTo>
                      <a:pt x="254062" y="672695"/>
                    </a:lnTo>
                    <a:lnTo>
                      <a:pt x="254062" y="875895"/>
                    </a:lnTo>
                    <a:lnTo>
                      <a:pt x="660462" y="437947"/>
                    </a:lnTo>
                    <a:close/>
                  </a:path>
                </a:pathLst>
              </a:custGeom>
              <a:solidFill>
                <a:srgbClr val="6B7280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127000"/>
                <a:ext cx="558862" cy="5456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00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0874378" y="793078"/>
              <a:ext cx="1060254" cy="1406094"/>
              <a:chOff x="0" y="0"/>
              <a:chExt cx="660462" cy="875895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60462" cy="875895"/>
              </a:xfrm>
              <a:custGeom>
                <a:avLst/>
                <a:gdLst/>
                <a:ahLst/>
                <a:cxnLst/>
                <a:rect r="r" b="b" t="t" l="l"/>
                <a:pathLst>
                  <a:path h="875895" w="660462">
                    <a:moveTo>
                      <a:pt x="660462" y="437947"/>
                    </a:moveTo>
                    <a:lnTo>
                      <a:pt x="254062" y="0"/>
                    </a:lnTo>
                    <a:lnTo>
                      <a:pt x="254062" y="203200"/>
                    </a:lnTo>
                    <a:lnTo>
                      <a:pt x="0" y="203200"/>
                    </a:lnTo>
                    <a:lnTo>
                      <a:pt x="0" y="672695"/>
                    </a:lnTo>
                    <a:lnTo>
                      <a:pt x="254062" y="672695"/>
                    </a:lnTo>
                    <a:lnTo>
                      <a:pt x="254062" y="875895"/>
                    </a:lnTo>
                    <a:lnTo>
                      <a:pt x="660462" y="437947"/>
                    </a:lnTo>
                    <a:close/>
                  </a:path>
                </a:pathLst>
              </a:custGeom>
              <a:solidFill>
                <a:srgbClr val="6B7280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127000"/>
                <a:ext cx="558862" cy="5456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00"/>
                  </a:lnSpc>
                </a:pPr>
              </a:p>
            </p:txBody>
          </p:sp>
        </p:grpSp>
      </p:grpSp>
      <p:sp>
        <p:nvSpPr>
          <p:cNvPr name="TextBox 22" id="22"/>
          <p:cNvSpPr txBox="true"/>
          <p:nvPr/>
        </p:nvSpPr>
        <p:spPr>
          <a:xfrm rot="0">
            <a:off x="5645626" y="5973245"/>
            <a:ext cx="6996748" cy="2565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44012" indent="-522006" lvl="1">
              <a:lnSpc>
                <a:spcPts val="6769"/>
              </a:lnSpc>
              <a:buFont typeface="Arial"/>
              <a:buChar char="•"/>
            </a:pPr>
            <a:r>
              <a:rPr lang="en-US" sz="483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Continuidad</a:t>
            </a:r>
          </a:p>
          <a:p>
            <a:pPr algn="l" marL="1044012" indent="-522006" lvl="1">
              <a:lnSpc>
                <a:spcPts val="6769"/>
              </a:lnSpc>
              <a:buFont typeface="Arial"/>
              <a:buChar char="•"/>
            </a:pPr>
            <a:r>
              <a:rPr lang="en-US" sz="483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Alta disponibilidad</a:t>
            </a:r>
          </a:p>
          <a:p>
            <a:pPr algn="l" marL="1044012" indent="-522006" lvl="1">
              <a:lnSpc>
                <a:spcPts val="6769"/>
              </a:lnSpc>
              <a:spcBef>
                <a:spcPct val="0"/>
              </a:spcBef>
              <a:buFont typeface="Arial"/>
              <a:buChar char="•"/>
            </a:pPr>
            <a:r>
              <a:rPr lang="en-US" sz="483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Escalabilidad</a:t>
            </a: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5078378"/>
            <a:chOff x="0" y="0"/>
            <a:chExt cx="2833290" cy="7867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3290" cy="786774"/>
            </a:xfrm>
            <a:custGeom>
              <a:avLst/>
              <a:gdLst/>
              <a:ahLst/>
              <a:cxnLst/>
              <a:rect r="r" b="b" t="t" l="l"/>
              <a:pathLst>
                <a:path h="786774" w="2833290">
                  <a:moveTo>
                    <a:pt x="0" y="0"/>
                  </a:moveTo>
                  <a:lnTo>
                    <a:pt x="2833290" y="0"/>
                  </a:lnTo>
                  <a:lnTo>
                    <a:pt x="2833290" y="786774"/>
                  </a:lnTo>
                  <a:lnTo>
                    <a:pt x="0" y="786774"/>
                  </a:lnTo>
                  <a:close/>
                </a:path>
              </a:pathLst>
            </a:custGeom>
            <a:blipFill>
              <a:blip r:embed="rId2"/>
              <a:stretch>
                <a:fillRect l="0" t="-70188" r="0" b="-7018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-32561"/>
            <a:ext cx="18288000" cy="5143500"/>
            <a:chOff x="0" y="0"/>
            <a:chExt cx="4816593" cy="13546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1354667"/>
            </a:xfrm>
            <a:custGeom>
              <a:avLst/>
              <a:gdLst/>
              <a:ahLst/>
              <a:cxnLst/>
              <a:rect r="r" b="b" t="t" l="l"/>
              <a:pathLst>
                <a:path h="135466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54667"/>
                  </a:lnTo>
                  <a:lnTo>
                    <a:pt x="0" y="1354667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3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4816593" cy="14403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2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77542" y="2092083"/>
            <a:ext cx="2098898" cy="897533"/>
            <a:chOff x="0" y="0"/>
            <a:chExt cx="485995" cy="20782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85995" cy="207822"/>
            </a:xfrm>
            <a:custGeom>
              <a:avLst/>
              <a:gdLst/>
              <a:ahLst/>
              <a:cxnLst/>
              <a:rect r="r" b="b" t="t" l="l"/>
              <a:pathLst>
                <a:path h="207822" w="485995">
                  <a:moveTo>
                    <a:pt x="62706" y="0"/>
                  </a:moveTo>
                  <a:lnTo>
                    <a:pt x="423290" y="0"/>
                  </a:lnTo>
                  <a:cubicBezTo>
                    <a:pt x="457921" y="0"/>
                    <a:pt x="485995" y="28074"/>
                    <a:pt x="485995" y="62706"/>
                  </a:cubicBezTo>
                  <a:lnTo>
                    <a:pt x="485995" y="145116"/>
                  </a:lnTo>
                  <a:cubicBezTo>
                    <a:pt x="485995" y="179747"/>
                    <a:pt x="457921" y="207822"/>
                    <a:pt x="423290" y="207822"/>
                  </a:cubicBezTo>
                  <a:lnTo>
                    <a:pt x="62706" y="207822"/>
                  </a:lnTo>
                  <a:cubicBezTo>
                    <a:pt x="28074" y="207822"/>
                    <a:pt x="0" y="179747"/>
                    <a:pt x="0" y="145116"/>
                  </a:cubicBezTo>
                  <a:lnTo>
                    <a:pt x="0" y="62706"/>
                  </a:lnTo>
                  <a:cubicBezTo>
                    <a:pt x="0" y="28074"/>
                    <a:pt x="28074" y="0"/>
                    <a:pt x="62706" y="0"/>
                  </a:cubicBezTo>
                  <a:close/>
                </a:path>
              </a:pathLst>
            </a:custGeom>
            <a:solidFill>
              <a:srgbClr val="70B2E2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95250"/>
              <a:ext cx="485995" cy="303072"/>
            </a:xfrm>
            <a:prstGeom prst="rect">
              <a:avLst/>
            </a:prstGeom>
          </p:spPr>
          <p:txBody>
            <a:bodyPr anchor="ctr" rtlCol="false" tIns="12700" lIns="12700" bIns="12700" rIns="12700"/>
            <a:lstStyle/>
            <a:p>
              <a:pPr algn="ctr">
                <a:lnSpc>
                  <a:spcPts val="4339"/>
                </a:lnSpc>
              </a:pPr>
              <a:r>
                <a:rPr lang="en-US" b="true" sz="3099">
                  <a:solidFill>
                    <a:srgbClr val="F5F5F5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Commit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861769" y="1817299"/>
            <a:ext cx="2098898" cy="1440458"/>
            <a:chOff x="0" y="0"/>
            <a:chExt cx="485995" cy="33353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85995" cy="333535"/>
            </a:xfrm>
            <a:custGeom>
              <a:avLst/>
              <a:gdLst/>
              <a:ahLst/>
              <a:cxnLst/>
              <a:rect r="r" b="b" t="t" l="l"/>
              <a:pathLst>
                <a:path h="333535" w="485995">
                  <a:moveTo>
                    <a:pt x="62706" y="0"/>
                  </a:moveTo>
                  <a:lnTo>
                    <a:pt x="423290" y="0"/>
                  </a:lnTo>
                  <a:cubicBezTo>
                    <a:pt x="457921" y="0"/>
                    <a:pt x="485995" y="28074"/>
                    <a:pt x="485995" y="62706"/>
                  </a:cubicBezTo>
                  <a:lnTo>
                    <a:pt x="485995" y="270829"/>
                  </a:lnTo>
                  <a:cubicBezTo>
                    <a:pt x="485995" y="305461"/>
                    <a:pt x="457921" y="333535"/>
                    <a:pt x="423290" y="333535"/>
                  </a:cubicBezTo>
                  <a:lnTo>
                    <a:pt x="62706" y="333535"/>
                  </a:lnTo>
                  <a:cubicBezTo>
                    <a:pt x="28074" y="333535"/>
                    <a:pt x="0" y="305461"/>
                    <a:pt x="0" y="270829"/>
                  </a:cubicBezTo>
                  <a:lnTo>
                    <a:pt x="0" y="62706"/>
                  </a:lnTo>
                  <a:cubicBezTo>
                    <a:pt x="0" y="28074"/>
                    <a:pt x="28074" y="0"/>
                    <a:pt x="62706" y="0"/>
                  </a:cubicBezTo>
                  <a:close/>
                </a:path>
              </a:pathLst>
            </a:custGeom>
            <a:solidFill>
              <a:srgbClr val="5FAF9C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0"/>
              <a:ext cx="485995" cy="428785"/>
            </a:xfrm>
            <a:prstGeom prst="rect">
              <a:avLst/>
            </a:prstGeom>
          </p:spPr>
          <p:txBody>
            <a:bodyPr anchor="ctr" rtlCol="false" tIns="12700" lIns="12700" bIns="12700" rIns="12700"/>
            <a:lstStyle/>
            <a:p>
              <a:pPr algn="ctr">
                <a:lnSpc>
                  <a:spcPts val="4339"/>
                </a:lnSpc>
              </a:pPr>
              <a:r>
                <a:rPr lang="en-US" b="true" sz="3099">
                  <a:solidFill>
                    <a:srgbClr val="F5F5F5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GitHub Actions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348245" y="2088762"/>
            <a:ext cx="2098898" cy="897533"/>
            <a:chOff x="0" y="0"/>
            <a:chExt cx="485995" cy="20782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85995" cy="207822"/>
            </a:xfrm>
            <a:custGeom>
              <a:avLst/>
              <a:gdLst/>
              <a:ahLst/>
              <a:cxnLst/>
              <a:rect r="r" b="b" t="t" l="l"/>
              <a:pathLst>
                <a:path h="207822" w="485995">
                  <a:moveTo>
                    <a:pt x="62706" y="0"/>
                  </a:moveTo>
                  <a:lnTo>
                    <a:pt x="423290" y="0"/>
                  </a:lnTo>
                  <a:cubicBezTo>
                    <a:pt x="457921" y="0"/>
                    <a:pt x="485995" y="28074"/>
                    <a:pt x="485995" y="62706"/>
                  </a:cubicBezTo>
                  <a:lnTo>
                    <a:pt x="485995" y="145116"/>
                  </a:lnTo>
                  <a:cubicBezTo>
                    <a:pt x="485995" y="179747"/>
                    <a:pt x="457921" y="207822"/>
                    <a:pt x="423290" y="207822"/>
                  </a:cubicBezTo>
                  <a:lnTo>
                    <a:pt x="62706" y="207822"/>
                  </a:lnTo>
                  <a:cubicBezTo>
                    <a:pt x="28074" y="207822"/>
                    <a:pt x="0" y="179747"/>
                    <a:pt x="0" y="145116"/>
                  </a:cubicBezTo>
                  <a:lnTo>
                    <a:pt x="0" y="62706"/>
                  </a:lnTo>
                  <a:cubicBezTo>
                    <a:pt x="0" y="28074"/>
                    <a:pt x="28074" y="0"/>
                    <a:pt x="62706" y="0"/>
                  </a:cubicBezTo>
                  <a:close/>
                </a:path>
              </a:pathLst>
            </a:custGeom>
            <a:solidFill>
              <a:srgbClr val="F2A65A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0"/>
              <a:ext cx="485995" cy="303072"/>
            </a:xfrm>
            <a:prstGeom prst="rect">
              <a:avLst/>
            </a:prstGeom>
          </p:spPr>
          <p:txBody>
            <a:bodyPr anchor="ctr" rtlCol="false" tIns="12700" lIns="12700" bIns="12700" rIns="12700"/>
            <a:lstStyle/>
            <a:p>
              <a:pPr algn="ctr">
                <a:lnSpc>
                  <a:spcPts val="4339"/>
                </a:lnSpc>
              </a:pPr>
              <a:r>
                <a:rPr lang="en-US" b="true" sz="3099">
                  <a:solidFill>
                    <a:srgbClr val="F5F5F5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Build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837525" y="2088762"/>
            <a:ext cx="2098898" cy="897533"/>
            <a:chOff x="0" y="0"/>
            <a:chExt cx="485995" cy="20782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85995" cy="207822"/>
            </a:xfrm>
            <a:custGeom>
              <a:avLst/>
              <a:gdLst/>
              <a:ahLst/>
              <a:cxnLst/>
              <a:rect r="r" b="b" t="t" l="l"/>
              <a:pathLst>
                <a:path h="207822" w="485995">
                  <a:moveTo>
                    <a:pt x="62706" y="0"/>
                  </a:moveTo>
                  <a:lnTo>
                    <a:pt x="423290" y="0"/>
                  </a:lnTo>
                  <a:cubicBezTo>
                    <a:pt x="457921" y="0"/>
                    <a:pt x="485995" y="28074"/>
                    <a:pt x="485995" y="62706"/>
                  </a:cubicBezTo>
                  <a:lnTo>
                    <a:pt x="485995" y="145116"/>
                  </a:lnTo>
                  <a:cubicBezTo>
                    <a:pt x="485995" y="179747"/>
                    <a:pt x="457921" y="207822"/>
                    <a:pt x="423290" y="207822"/>
                  </a:cubicBezTo>
                  <a:lnTo>
                    <a:pt x="62706" y="207822"/>
                  </a:lnTo>
                  <a:cubicBezTo>
                    <a:pt x="28074" y="207822"/>
                    <a:pt x="0" y="179747"/>
                    <a:pt x="0" y="145116"/>
                  </a:cubicBezTo>
                  <a:lnTo>
                    <a:pt x="0" y="62706"/>
                  </a:lnTo>
                  <a:cubicBezTo>
                    <a:pt x="0" y="28074"/>
                    <a:pt x="28074" y="0"/>
                    <a:pt x="62706" y="0"/>
                  </a:cubicBezTo>
                  <a:close/>
                </a:path>
              </a:pathLst>
            </a:custGeom>
            <a:solidFill>
              <a:srgbClr val="6B7280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0"/>
              <a:ext cx="485995" cy="303072"/>
            </a:xfrm>
            <a:prstGeom prst="rect">
              <a:avLst/>
            </a:prstGeom>
          </p:spPr>
          <p:txBody>
            <a:bodyPr anchor="ctr" rtlCol="false" tIns="12700" lIns="12700" bIns="12700" rIns="12700"/>
            <a:lstStyle/>
            <a:p>
              <a:pPr algn="ctr">
                <a:lnSpc>
                  <a:spcPts val="4339"/>
                </a:lnSpc>
              </a:pPr>
              <a:r>
                <a:rPr lang="en-US" b="true" sz="3099">
                  <a:solidFill>
                    <a:srgbClr val="F5F5F5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Docker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326805" y="2088762"/>
            <a:ext cx="2098898" cy="897533"/>
            <a:chOff x="0" y="0"/>
            <a:chExt cx="485995" cy="20782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85995" cy="207822"/>
            </a:xfrm>
            <a:custGeom>
              <a:avLst/>
              <a:gdLst/>
              <a:ahLst/>
              <a:cxnLst/>
              <a:rect r="r" b="b" t="t" l="l"/>
              <a:pathLst>
                <a:path h="207822" w="485995">
                  <a:moveTo>
                    <a:pt x="62706" y="0"/>
                  </a:moveTo>
                  <a:lnTo>
                    <a:pt x="423290" y="0"/>
                  </a:lnTo>
                  <a:cubicBezTo>
                    <a:pt x="457921" y="0"/>
                    <a:pt x="485995" y="28074"/>
                    <a:pt x="485995" y="62706"/>
                  </a:cubicBezTo>
                  <a:lnTo>
                    <a:pt x="485995" y="145116"/>
                  </a:lnTo>
                  <a:cubicBezTo>
                    <a:pt x="485995" y="179747"/>
                    <a:pt x="457921" y="207822"/>
                    <a:pt x="423290" y="207822"/>
                  </a:cubicBezTo>
                  <a:lnTo>
                    <a:pt x="62706" y="207822"/>
                  </a:lnTo>
                  <a:cubicBezTo>
                    <a:pt x="28074" y="207822"/>
                    <a:pt x="0" y="179747"/>
                    <a:pt x="0" y="145116"/>
                  </a:cubicBezTo>
                  <a:lnTo>
                    <a:pt x="0" y="62706"/>
                  </a:lnTo>
                  <a:cubicBezTo>
                    <a:pt x="0" y="28074"/>
                    <a:pt x="28074" y="0"/>
                    <a:pt x="62706" y="0"/>
                  </a:cubicBezTo>
                  <a:close/>
                </a:path>
              </a:pathLst>
            </a:custGeom>
            <a:solidFill>
              <a:srgbClr val="70B2E2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0"/>
              <a:ext cx="485995" cy="303072"/>
            </a:xfrm>
            <a:prstGeom prst="rect">
              <a:avLst/>
            </a:prstGeom>
          </p:spPr>
          <p:txBody>
            <a:bodyPr anchor="ctr" rtlCol="false" tIns="12700" lIns="12700" bIns="12700" rIns="12700"/>
            <a:lstStyle/>
            <a:p>
              <a:pPr algn="ctr">
                <a:lnSpc>
                  <a:spcPts val="4339"/>
                </a:lnSpc>
              </a:pPr>
              <a:r>
                <a:rPr lang="en-US" b="true" sz="3099">
                  <a:solidFill>
                    <a:srgbClr val="F5F5F5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Push ECR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816085" y="1820621"/>
            <a:ext cx="2098898" cy="1440458"/>
            <a:chOff x="0" y="0"/>
            <a:chExt cx="485995" cy="33353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85995" cy="333535"/>
            </a:xfrm>
            <a:custGeom>
              <a:avLst/>
              <a:gdLst/>
              <a:ahLst/>
              <a:cxnLst/>
              <a:rect r="r" b="b" t="t" l="l"/>
              <a:pathLst>
                <a:path h="333535" w="485995">
                  <a:moveTo>
                    <a:pt x="62706" y="0"/>
                  </a:moveTo>
                  <a:lnTo>
                    <a:pt x="423290" y="0"/>
                  </a:lnTo>
                  <a:cubicBezTo>
                    <a:pt x="457921" y="0"/>
                    <a:pt x="485995" y="28074"/>
                    <a:pt x="485995" y="62706"/>
                  </a:cubicBezTo>
                  <a:lnTo>
                    <a:pt x="485995" y="270829"/>
                  </a:lnTo>
                  <a:cubicBezTo>
                    <a:pt x="485995" y="305461"/>
                    <a:pt x="457921" y="333535"/>
                    <a:pt x="423290" y="333535"/>
                  </a:cubicBezTo>
                  <a:lnTo>
                    <a:pt x="62706" y="333535"/>
                  </a:lnTo>
                  <a:cubicBezTo>
                    <a:pt x="28074" y="333535"/>
                    <a:pt x="0" y="305461"/>
                    <a:pt x="0" y="270829"/>
                  </a:cubicBezTo>
                  <a:lnTo>
                    <a:pt x="0" y="62706"/>
                  </a:lnTo>
                  <a:cubicBezTo>
                    <a:pt x="0" y="28074"/>
                    <a:pt x="28074" y="0"/>
                    <a:pt x="62706" y="0"/>
                  </a:cubicBezTo>
                  <a:close/>
                </a:path>
              </a:pathLst>
            </a:custGeom>
            <a:solidFill>
              <a:srgbClr val="5FAF9C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0"/>
              <a:ext cx="485995" cy="428785"/>
            </a:xfrm>
            <a:prstGeom prst="rect">
              <a:avLst/>
            </a:prstGeom>
          </p:spPr>
          <p:txBody>
            <a:bodyPr anchor="ctr" rtlCol="false" tIns="12700" lIns="12700" bIns="12700" rIns="12700"/>
            <a:lstStyle/>
            <a:p>
              <a:pPr algn="ctr">
                <a:lnSpc>
                  <a:spcPts val="4339"/>
                </a:lnSpc>
              </a:pPr>
              <a:r>
                <a:rPr lang="en-US" b="true" sz="3099">
                  <a:solidFill>
                    <a:srgbClr val="F5F5F5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Deploy ECR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5316019" y="1817299"/>
            <a:ext cx="2594439" cy="1440458"/>
            <a:chOff x="0" y="0"/>
            <a:chExt cx="600736" cy="33353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00736" cy="333535"/>
            </a:xfrm>
            <a:custGeom>
              <a:avLst/>
              <a:gdLst/>
              <a:ahLst/>
              <a:cxnLst/>
              <a:rect r="r" b="b" t="t" l="l"/>
              <a:pathLst>
                <a:path h="333535" w="600736">
                  <a:moveTo>
                    <a:pt x="50729" y="0"/>
                  </a:moveTo>
                  <a:lnTo>
                    <a:pt x="550008" y="0"/>
                  </a:lnTo>
                  <a:cubicBezTo>
                    <a:pt x="563462" y="0"/>
                    <a:pt x="576365" y="5345"/>
                    <a:pt x="585878" y="14858"/>
                  </a:cubicBezTo>
                  <a:cubicBezTo>
                    <a:pt x="595392" y="24372"/>
                    <a:pt x="600736" y="37275"/>
                    <a:pt x="600736" y="50729"/>
                  </a:cubicBezTo>
                  <a:lnTo>
                    <a:pt x="600736" y="282806"/>
                  </a:lnTo>
                  <a:cubicBezTo>
                    <a:pt x="600736" y="310823"/>
                    <a:pt x="578024" y="333535"/>
                    <a:pt x="550008" y="333535"/>
                  </a:cubicBezTo>
                  <a:lnTo>
                    <a:pt x="50729" y="333535"/>
                  </a:lnTo>
                  <a:cubicBezTo>
                    <a:pt x="22712" y="333535"/>
                    <a:pt x="0" y="310823"/>
                    <a:pt x="0" y="282806"/>
                  </a:cubicBezTo>
                  <a:lnTo>
                    <a:pt x="0" y="50729"/>
                  </a:lnTo>
                  <a:cubicBezTo>
                    <a:pt x="0" y="22712"/>
                    <a:pt x="22712" y="0"/>
                    <a:pt x="50729" y="0"/>
                  </a:cubicBezTo>
                  <a:close/>
                </a:path>
              </a:pathLst>
            </a:custGeom>
            <a:solidFill>
              <a:srgbClr val="F2A65A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0"/>
              <a:ext cx="600736" cy="428785"/>
            </a:xfrm>
            <a:prstGeom prst="rect">
              <a:avLst/>
            </a:prstGeom>
          </p:spPr>
          <p:txBody>
            <a:bodyPr anchor="ctr" rtlCol="false" tIns="12700" lIns="12700" bIns="12700" rIns="12700"/>
            <a:lstStyle/>
            <a:p>
              <a:pPr algn="ctr">
                <a:lnSpc>
                  <a:spcPts val="4339"/>
                </a:lnSpc>
              </a:pPr>
              <a:r>
                <a:rPr lang="en-US" b="true" sz="3099">
                  <a:solidFill>
                    <a:srgbClr val="F5F5F5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Aplicación Actualizada</a:t>
              </a:r>
            </a:p>
          </p:txBody>
        </p:sp>
      </p:grpSp>
      <p:sp>
        <p:nvSpPr>
          <p:cNvPr name="AutoShape 28" id="28"/>
          <p:cNvSpPr/>
          <p:nvPr/>
        </p:nvSpPr>
        <p:spPr>
          <a:xfrm flipV="true">
            <a:off x="2476440" y="2537528"/>
            <a:ext cx="385329" cy="3321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9" id="29"/>
          <p:cNvSpPr/>
          <p:nvPr/>
        </p:nvSpPr>
        <p:spPr>
          <a:xfrm flipV="true">
            <a:off x="4960668" y="2537528"/>
            <a:ext cx="387577" cy="0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0" id="30"/>
          <p:cNvSpPr/>
          <p:nvPr/>
        </p:nvSpPr>
        <p:spPr>
          <a:xfrm>
            <a:off x="7447143" y="2537528"/>
            <a:ext cx="390382" cy="0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1" id="31"/>
          <p:cNvSpPr/>
          <p:nvPr/>
        </p:nvSpPr>
        <p:spPr>
          <a:xfrm>
            <a:off x="9936423" y="2537528"/>
            <a:ext cx="390382" cy="0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2" id="32"/>
          <p:cNvSpPr/>
          <p:nvPr/>
        </p:nvSpPr>
        <p:spPr>
          <a:xfrm>
            <a:off x="12425703" y="2537528"/>
            <a:ext cx="390382" cy="3321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3" id="33"/>
          <p:cNvSpPr/>
          <p:nvPr/>
        </p:nvSpPr>
        <p:spPr>
          <a:xfrm flipV="true">
            <a:off x="14914983" y="2537528"/>
            <a:ext cx="401036" cy="3321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34" id="34"/>
          <p:cNvSpPr txBox="true"/>
          <p:nvPr/>
        </p:nvSpPr>
        <p:spPr>
          <a:xfrm rot="0">
            <a:off x="0" y="6713626"/>
            <a:ext cx="18288000" cy="1591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41"/>
              </a:lnSpc>
            </a:pPr>
            <a:r>
              <a:rPr lang="en-US" b="true" sz="12207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PIPELINE CI/CD</a:t>
            </a:r>
          </a:p>
        </p:txBody>
      </p:sp>
      <p:sp>
        <p:nvSpPr>
          <p:cNvPr name="Freeform 35" id="35"/>
          <p:cNvSpPr/>
          <p:nvPr/>
        </p:nvSpPr>
        <p:spPr>
          <a:xfrm flipH="false" flipV="true" rot="0">
            <a:off x="-1016445" y="7509950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0" y="4114800"/>
                </a:moveTo>
                <a:lnTo>
                  <a:pt x="6217417" y="4114800"/>
                </a:lnTo>
                <a:lnTo>
                  <a:pt x="6217417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024018" y="-1769921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6217417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7" y="4114800"/>
                </a:lnTo>
                <a:lnTo>
                  <a:pt x="621741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2520315"/>
            <a:ext cx="18288000" cy="7766685"/>
            <a:chOff x="0" y="0"/>
            <a:chExt cx="2833290" cy="120326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33290" cy="1203263"/>
            </a:xfrm>
            <a:custGeom>
              <a:avLst/>
              <a:gdLst/>
              <a:ahLst/>
              <a:cxnLst/>
              <a:rect r="r" b="b" t="t" l="l"/>
              <a:pathLst>
                <a:path h="1203263" w="2833290">
                  <a:moveTo>
                    <a:pt x="0" y="0"/>
                  </a:moveTo>
                  <a:lnTo>
                    <a:pt x="2833290" y="0"/>
                  </a:lnTo>
                  <a:lnTo>
                    <a:pt x="2833290" y="1203263"/>
                  </a:lnTo>
                  <a:lnTo>
                    <a:pt x="0" y="1203263"/>
                  </a:lnTo>
                  <a:close/>
                </a:path>
              </a:pathLst>
            </a:custGeom>
            <a:blipFill>
              <a:blip r:embed="rId4"/>
              <a:stretch>
                <a:fillRect l="0" t="0" r="-61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2358236" y="765782"/>
            <a:ext cx="13571528" cy="1301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99"/>
              </a:lnSpc>
            </a:pPr>
            <a:r>
              <a:rPr lang="en-US" b="true" sz="9999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GITHUB ACTIONS</a:t>
            </a:r>
          </a:p>
        </p:txBody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024018" y="-1769921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6217417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7" y="4114800"/>
                </a:lnTo>
                <a:lnTo>
                  <a:pt x="621741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2520315"/>
            <a:ext cx="18288000" cy="7766685"/>
            <a:chOff x="0" y="0"/>
            <a:chExt cx="2833290" cy="120326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33290" cy="1203263"/>
            </a:xfrm>
            <a:custGeom>
              <a:avLst/>
              <a:gdLst/>
              <a:ahLst/>
              <a:cxnLst/>
              <a:rect r="r" b="b" t="t" l="l"/>
              <a:pathLst>
                <a:path h="1203263" w="2833290">
                  <a:moveTo>
                    <a:pt x="0" y="0"/>
                  </a:moveTo>
                  <a:lnTo>
                    <a:pt x="2833290" y="0"/>
                  </a:lnTo>
                  <a:lnTo>
                    <a:pt x="2833290" y="1203263"/>
                  </a:lnTo>
                  <a:lnTo>
                    <a:pt x="0" y="1203263"/>
                  </a:lnTo>
                  <a:close/>
                </a:path>
              </a:pathLst>
            </a:custGeom>
            <a:blipFill>
              <a:blip r:embed="rId4"/>
              <a:stretch>
                <a:fillRect l="0" t="-4966" r="0" b="-4966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2358236" y="765782"/>
            <a:ext cx="13571528" cy="1301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99"/>
              </a:lnSpc>
            </a:pPr>
            <a:r>
              <a:rPr lang="en-US" b="true" sz="9999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ECL CLUSTER</a:t>
            </a:r>
          </a:p>
        </p:txBody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024018" y="-1769921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6217417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7" y="4114800"/>
                </a:lnTo>
                <a:lnTo>
                  <a:pt x="621741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2520315"/>
            <a:ext cx="18288000" cy="7766685"/>
            <a:chOff x="0" y="0"/>
            <a:chExt cx="2833290" cy="120326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33290" cy="1203263"/>
            </a:xfrm>
            <a:custGeom>
              <a:avLst/>
              <a:gdLst/>
              <a:ahLst/>
              <a:cxnLst/>
              <a:rect r="r" b="b" t="t" l="l"/>
              <a:pathLst>
                <a:path h="1203263" w="2833290">
                  <a:moveTo>
                    <a:pt x="0" y="0"/>
                  </a:moveTo>
                  <a:lnTo>
                    <a:pt x="2833290" y="0"/>
                  </a:lnTo>
                  <a:lnTo>
                    <a:pt x="2833290" y="1203263"/>
                  </a:lnTo>
                  <a:lnTo>
                    <a:pt x="0" y="1203263"/>
                  </a:lnTo>
                  <a:close/>
                </a:path>
              </a:pathLst>
            </a:custGeom>
            <a:blipFill>
              <a:blip r:embed="rId4"/>
              <a:stretch>
                <a:fillRect l="0" t="-846" r="0" b="-846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2358236" y="765782"/>
            <a:ext cx="13571528" cy="1301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99"/>
              </a:lnSpc>
            </a:pPr>
            <a:r>
              <a:rPr lang="en-US" b="true" sz="9999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CLOUDWATCH</a:t>
            </a:r>
          </a:p>
        </p:txBody>
      </p: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024018" y="-1769921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6217417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7" y="4114800"/>
                </a:lnTo>
                <a:lnTo>
                  <a:pt x="621741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2520315"/>
            <a:ext cx="18288000" cy="7766685"/>
            <a:chOff x="0" y="0"/>
            <a:chExt cx="2833290" cy="120326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33290" cy="1203263"/>
            </a:xfrm>
            <a:custGeom>
              <a:avLst/>
              <a:gdLst/>
              <a:ahLst/>
              <a:cxnLst/>
              <a:rect r="r" b="b" t="t" l="l"/>
              <a:pathLst>
                <a:path h="1203263" w="2833290">
                  <a:moveTo>
                    <a:pt x="0" y="0"/>
                  </a:moveTo>
                  <a:lnTo>
                    <a:pt x="2833290" y="0"/>
                  </a:lnTo>
                  <a:lnTo>
                    <a:pt x="2833290" y="1203263"/>
                  </a:lnTo>
                  <a:lnTo>
                    <a:pt x="0" y="1203263"/>
                  </a:lnTo>
                  <a:close/>
                </a:path>
              </a:pathLst>
            </a:custGeom>
            <a:blipFill>
              <a:blip r:embed="rId4"/>
              <a:stretch>
                <a:fillRect l="0" t="-7910" r="0" b="-791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2358236" y="765782"/>
            <a:ext cx="13571528" cy="1301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99"/>
              </a:lnSpc>
            </a:pPr>
            <a:r>
              <a:rPr lang="en-US" b="true" sz="9999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SISTEMA FUNCIONANDO</a:t>
            </a:r>
          </a:p>
        </p:txBody>
      </p:sp>
    </p:spTree>
  </p:cSld>
  <p:clrMapOvr>
    <a:masterClrMapping/>
  </p:clrMapOvr>
  <p:transition spd="slow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63947" y="3961106"/>
            <a:ext cx="10002636" cy="4956241"/>
            <a:chOff x="0" y="0"/>
            <a:chExt cx="13336847" cy="660832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3311448" cy="868169"/>
              <a:chOff x="0" y="0"/>
              <a:chExt cx="2629422" cy="17149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629422" cy="171490"/>
              </a:xfrm>
              <a:custGeom>
                <a:avLst/>
                <a:gdLst/>
                <a:ahLst/>
                <a:cxnLst/>
                <a:rect r="r" b="b" t="t" l="l"/>
                <a:pathLst>
                  <a:path h="171490" w="2629422">
                    <a:moveTo>
                      <a:pt x="0" y="0"/>
                    </a:moveTo>
                    <a:lnTo>
                      <a:pt x="2629422" y="0"/>
                    </a:lnTo>
                    <a:lnTo>
                      <a:pt x="2629422" y="171490"/>
                    </a:lnTo>
                    <a:lnTo>
                      <a:pt x="0" y="171490"/>
                    </a:lnTo>
                    <a:close/>
                  </a:path>
                </a:pathLst>
              </a:custGeom>
              <a:solidFill>
                <a:srgbClr val="2F6F91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85725"/>
                <a:ext cx="2629422" cy="25721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2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0" y="59434"/>
              <a:ext cx="6507618" cy="6731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b="true" sz="2999">
                  <a:solidFill>
                    <a:srgbClr val="F5F5F5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PROBLEMA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6803829" y="59434"/>
              <a:ext cx="6507618" cy="6731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b="true" sz="2999">
                  <a:solidFill>
                    <a:srgbClr val="F5F5F5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SOLUCION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999489"/>
              <a:ext cx="6507618" cy="6731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Eureka inestable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998221"/>
              <a:ext cx="6507618" cy="6731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DNS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982471"/>
              <a:ext cx="6507618" cy="6731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Gateway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3966721"/>
              <a:ext cx="6507618" cy="6731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Secuencias PostgreSQL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4950971"/>
              <a:ext cx="6507618" cy="6731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Variables hardcodeadas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5935221"/>
              <a:ext cx="6507618" cy="6731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Nginx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6803829" y="999489"/>
              <a:ext cx="6507618" cy="6731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Service Connect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6803829" y="1998221"/>
              <a:ext cx="6507618" cy="6731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Dns interno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6803829" y="2982471"/>
              <a:ext cx="6507618" cy="6731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Correccion de rutas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6803829" y="3966721"/>
              <a:ext cx="6507618" cy="6731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Imágenes Docker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6803829" y="4950971"/>
              <a:ext cx="6507618" cy="6731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Logs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6803829" y="5935221"/>
              <a:ext cx="6507618" cy="6731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Secretos</a:t>
              </a:r>
            </a:p>
          </p:txBody>
        </p:sp>
        <p:sp>
          <p:nvSpPr>
            <p:cNvPr name="AutoShape 20" id="20"/>
            <p:cNvSpPr/>
            <p:nvPr/>
          </p:nvSpPr>
          <p:spPr>
            <a:xfrm>
              <a:off x="25400" y="877058"/>
              <a:ext cx="13311448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1" id="21"/>
            <p:cNvSpPr/>
            <p:nvPr/>
          </p:nvSpPr>
          <p:spPr>
            <a:xfrm>
              <a:off x="25400" y="1871221"/>
              <a:ext cx="13311448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2" id="22"/>
            <p:cNvSpPr/>
            <p:nvPr/>
          </p:nvSpPr>
          <p:spPr>
            <a:xfrm>
              <a:off x="25400" y="2861821"/>
              <a:ext cx="13311448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3" id="23"/>
            <p:cNvSpPr/>
            <p:nvPr/>
          </p:nvSpPr>
          <p:spPr>
            <a:xfrm>
              <a:off x="25400" y="3852421"/>
              <a:ext cx="13311448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4" id="24"/>
            <p:cNvSpPr/>
            <p:nvPr/>
          </p:nvSpPr>
          <p:spPr>
            <a:xfrm>
              <a:off x="25400" y="4843021"/>
              <a:ext cx="13311448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5" id="25"/>
            <p:cNvSpPr/>
            <p:nvPr/>
          </p:nvSpPr>
          <p:spPr>
            <a:xfrm>
              <a:off x="0" y="5833621"/>
              <a:ext cx="13311448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6" id="26"/>
            <p:cNvSpPr/>
            <p:nvPr/>
          </p:nvSpPr>
          <p:spPr>
            <a:xfrm>
              <a:off x="6655724" y="81"/>
              <a:ext cx="0" cy="6608241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27" id="27"/>
          <p:cNvSpPr/>
          <p:nvPr/>
        </p:nvSpPr>
        <p:spPr>
          <a:xfrm flipH="true" flipV="false" rot="0">
            <a:off x="-2651953" y="6716437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6217417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7" y="4114800"/>
                </a:lnTo>
                <a:lnTo>
                  <a:pt x="621741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11418051" y="1028700"/>
            <a:ext cx="5855783" cy="8229600"/>
            <a:chOff x="0" y="0"/>
            <a:chExt cx="907214" cy="12749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07214" cy="1274980"/>
            </a:xfrm>
            <a:custGeom>
              <a:avLst/>
              <a:gdLst/>
              <a:ahLst/>
              <a:cxnLst/>
              <a:rect r="r" b="b" t="t" l="l"/>
              <a:pathLst>
                <a:path h="1274980" w="907214">
                  <a:moveTo>
                    <a:pt x="0" y="0"/>
                  </a:moveTo>
                  <a:lnTo>
                    <a:pt x="907214" y="0"/>
                  </a:lnTo>
                  <a:lnTo>
                    <a:pt x="907214" y="1274980"/>
                  </a:lnTo>
                  <a:lnTo>
                    <a:pt x="0" y="1274980"/>
                  </a:lnTo>
                  <a:close/>
                </a:path>
              </a:pathLst>
            </a:custGeom>
            <a:blipFill>
              <a:blip r:embed="rId4"/>
              <a:stretch>
                <a:fillRect l="-55307" t="0" r="-55307" b="0"/>
              </a:stretch>
            </a:blipFill>
          </p:spPr>
        </p:sp>
      </p:grpSp>
      <p:sp>
        <p:nvSpPr>
          <p:cNvPr name="Freeform 30" id="30"/>
          <p:cNvSpPr/>
          <p:nvPr/>
        </p:nvSpPr>
        <p:spPr>
          <a:xfrm flipH="true" flipV="false" rot="0">
            <a:off x="14165125" y="-1519728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3031558" y="1385480"/>
            <a:ext cx="6267413" cy="2014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60"/>
              </a:lnSpc>
            </a:pPr>
            <a:r>
              <a:rPr lang="en-US" b="true" sz="8000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PROBLEMAS ENCONTRADOS</a:t>
            </a:r>
          </a:p>
        </p:txBody>
      </p:sp>
    </p:spTree>
  </p:cSld>
  <p:clrMapOvr>
    <a:masterClrMapping/>
  </p:clrMapOvr>
  <p:transition spd="slow">
    <p:push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695454" y="6826250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5855783" cy="8229600"/>
            <a:chOff x="0" y="0"/>
            <a:chExt cx="907214" cy="12749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07214" cy="1274980"/>
            </a:xfrm>
            <a:custGeom>
              <a:avLst/>
              <a:gdLst/>
              <a:ahLst/>
              <a:cxnLst/>
              <a:rect r="r" b="b" t="t" l="l"/>
              <a:pathLst>
                <a:path h="1274980" w="907214">
                  <a:moveTo>
                    <a:pt x="0" y="0"/>
                  </a:moveTo>
                  <a:lnTo>
                    <a:pt x="907214" y="0"/>
                  </a:lnTo>
                  <a:lnTo>
                    <a:pt x="907214" y="1274980"/>
                  </a:lnTo>
                  <a:lnTo>
                    <a:pt x="0" y="1274980"/>
                  </a:lnTo>
                  <a:close/>
                </a:path>
              </a:pathLst>
            </a:custGeom>
            <a:blipFill>
              <a:blip r:embed="rId4"/>
              <a:stretch>
                <a:fillRect l="-95036" t="0" r="-15902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-2080009" y="-1519728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300216" y="3169677"/>
            <a:ext cx="8863283" cy="5600239"/>
            <a:chOff x="0" y="0"/>
            <a:chExt cx="11817711" cy="7466986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692157" cy="692157"/>
              <a:chOff x="0" y="0"/>
              <a:chExt cx="113247" cy="113247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13247" cy="113247"/>
              </a:xfrm>
              <a:custGeom>
                <a:avLst/>
                <a:gdLst/>
                <a:ahLst/>
                <a:cxnLst/>
                <a:rect r="r" b="b" t="t" l="l"/>
                <a:pathLst>
                  <a:path h="113247" w="113247">
                    <a:moveTo>
                      <a:pt x="56624" y="0"/>
                    </a:moveTo>
                    <a:lnTo>
                      <a:pt x="56624" y="0"/>
                    </a:lnTo>
                    <a:cubicBezTo>
                      <a:pt x="71641" y="0"/>
                      <a:pt x="86043" y="5966"/>
                      <a:pt x="96662" y="16585"/>
                    </a:cubicBezTo>
                    <a:cubicBezTo>
                      <a:pt x="107281" y="27204"/>
                      <a:pt x="113247" y="41606"/>
                      <a:pt x="113247" y="56624"/>
                    </a:cubicBezTo>
                    <a:lnTo>
                      <a:pt x="113247" y="56624"/>
                    </a:lnTo>
                    <a:cubicBezTo>
                      <a:pt x="113247" y="87896"/>
                      <a:pt x="87896" y="113247"/>
                      <a:pt x="56624" y="113247"/>
                    </a:cubicBezTo>
                    <a:lnTo>
                      <a:pt x="56624" y="113247"/>
                    </a:lnTo>
                    <a:cubicBezTo>
                      <a:pt x="25351" y="113247"/>
                      <a:pt x="0" y="87896"/>
                      <a:pt x="0" y="56624"/>
                    </a:cubicBezTo>
                    <a:lnTo>
                      <a:pt x="0" y="56624"/>
                    </a:lnTo>
                    <a:cubicBezTo>
                      <a:pt x="0" y="25351"/>
                      <a:pt x="25351" y="0"/>
                      <a:pt x="56624" y="0"/>
                    </a:cubicBezTo>
                    <a:close/>
                  </a:path>
                </a:pathLst>
              </a:custGeom>
              <a:solidFill>
                <a:srgbClr val="5FAF9C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85725"/>
                <a:ext cx="113247" cy="1989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2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832738"/>
              <a:ext cx="692157" cy="692157"/>
              <a:chOff x="0" y="0"/>
              <a:chExt cx="113247" cy="113247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13247" cy="113247"/>
              </a:xfrm>
              <a:custGeom>
                <a:avLst/>
                <a:gdLst/>
                <a:ahLst/>
                <a:cxnLst/>
                <a:rect r="r" b="b" t="t" l="l"/>
                <a:pathLst>
                  <a:path h="113247" w="113247">
                    <a:moveTo>
                      <a:pt x="56624" y="0"/>
                    </a:moveTo>
                    <a:lnTo>
                      <a:pt x="56624" y="0"/>
                    </a:lnTo>
                    <a:cubicBezTo>
                      <a:pt x="71641" y="0"/>
                      <a:pt x="86043" y="5966"/>
                      <a:pt x="96662" y="16585"/>
                    </a:cubicBezTo>
                    <a:cubicBezTo>
                      <a:pt x="107281" y="27204"/>
                      <a:pt x="113247" y="41606"/>
                      <a:pt x="113247" y="56624"/>
                    </a:cubicBezTo>
                    <a:lnTo>
                      <a:pt x="113247" y="56624"/>
                    </a:lnTo>
                    <a:cubicBezTo>
                      <a:pt x="113247" y="87896"/>
                      <a:pt x="87896" y="113247"/>
                      <a:pt x="56624" y="113247"/>
                    </a:cubicBezTo>
                    <a:lnTo>
                      <a:pt x="56624" y="113247"/>
                    </a:lnTo>
                    <a:cubicBezTo>
                      <a:pt x="25351" y="113247"/>
                      <a:pt x="0" y="87896"/>
                      <a:pt x="0" y="56624"/>
                    </a:cubicBezTo>
                    <a:lnTo>
                      <a:pt x="0" y="56624"/>
                    </a:lnTo>
                    <a:cubicBezTo>
                      <a:pt x="0" y="25351"/>
                      <a:pt x="25351" y="0"/>
                      <a:pt x="56624" y="0"/>
                    </a:cubicBezTo>
                    <a:close/>
                  </a:path>
                </a:pathLst>
              </a:custGeom>
              <a:solidFill>
                <a:srgbClr val="5FAF9C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85725"/>
                <a:ext cx="113247" cy="1989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2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0" y="1672002"/>
              <a:ext cx="692157" cy="692157"/>
              <a:chOff x="0" y="0"/>
              <a:chExt cx="113247" cy="11324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13247" cy="113247"/>
              </a:xfrm>
              <a:custGeom>
                <a:avLst/>
                <a:gdLst/>
                <a:ahLst/>
                <a:cxnLst/>
                <a:rect r="r" b="b" t="t" l="l"/>
                <a:pathLst>
                  <a:path h="113247" w="113247">
                    <a:moveTo>
                      <a:pt x="56624" y="0"/>
                    </a:moveTo>
                    <a:lnTo>
                      <a:pt x="56624" y="0"/>
                    </a:lnTo>
                    <a:cubicBezTo>
                      <a:pt x="71641" y="0"/>
                      <a:pt x="86043" y="5966"/>
                      <a:pt x="96662" y="16585"/>
                    </a:cubicBezTo>
                    <a:cubicBezTo>
                      <a:pt x="107281" y="27204"/>
                      <a:pt x="113247" y="41606"/>
                      <a:pt x="113247" y="56624"/>
                    </a:cubicBezTo>
                    <a:lnTo>
                      <a:pt x="113247" y="56624"/>
                    </a:lnTo>
                    <a:cubicBezTo>
                      <a:pt x="113247" y="87896"/>
                      <a:pt x="87896" y="113247"/>
                      <a:pt x="56624" y="113247"/>
                    </a:cubicBezTo>
                    <a:lnTo>
                      <a:pt x="56624" y="113247"/>
                    </a:lnTo>
                    <a:cubicBezTo>
                      <a:pt x="25351" y="113247"/>
                      <a:pt x="0" y="87896"/>
                      <a:pt x="0" y="56624"/>
                    </a:cubicBezTo>
                    <a:lnTo>
                      <a:pt x="0" y="56624"/>
                    </a:lnTo>
                    <a:cubicBezTo>
                      <a:pt x="0" y="25351"/>
                      <a:pt x="25351" y="0"/>
                      <a:pt x="56624" y="0"/>
                    </a:cubicBezTo>
                    <a:close/>
                  </a:path>
                </a:pathLst>
              </a:custGeom>
              <a:solidFill>
                <a:srgbClr val="5FAF9C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85725"/>
                <a:ext cx="113247" cy="1989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2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2511267"/>
              <a:ext cx="692157" cy="692157"/>
              <a:chOff x="0" y="0"/>
              <a:chExt cx="113247" cy="11324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13247" cy="113247"/>
              </a:xfrm>
              <a:custGeom>
                <a:avLst/>
                <a:gdLst/>
                <a:ahLst/>
                <a:cxnLst/>
                <a:rect r="r" b="b" t="t" l="l"/>
                <a:pathLst>
                  <a:path h="113247" w="113247">
                    <a:moveTo>
                      <a:pt x="56624" y="0"/>
                    </a:moveTo>
                    <a:lnTo>
                      <a:pt x="56624" y="0"/>
                    </a:lnTo>
                    <a:cubicBezTo>
                      <a:pt x="71641" y="0"/>
                      <a:pt x="86043" y="5966"/>
                      <a:pt x="96662" y="16585"/>
                    </a:cubicBezTo>
                    <a:cubicBezTo>
                      <a:pt x="107281" y="27204"/>
                      <a:pt x="113247" y="41606"/>
                      <a:pt x="113247" y="56624"/>
                    </a:cubicBezTo>
                    <a:lnTo>
                      <a:pt x="113247" y="56624"/>
                    </a:lnTo>
                    <a:cubicBezTo>
                      <a:pt x="113247" y="87896"/>
                      <a:pt x="87896" y="113247"/>
                      <a:pt x="56624" y="113247"/>
                    </a:cubicBezTo>
                    <a:lnTo>
                      <a:pt x="56624" y="113247"/>
                    </a:lnTo>
                    <a:cubicBezTo>
                      <a:pt x="25351" y="113247"/>
                      <a:pt x="0" y="87896"/>
                      <a:pt x="0" y="56624"/>
                    </a:cubicBezTo>
                    <a:lnTo>
                      <a:pt x="0" y="56624"/>
                    </a:lnTo>
                    <a:cubicBezTo>
                      <a:pt x="0" y="25351"/>
                      <a:pt x="25351" y="0"/>
                      <a:pt x="56624" y="0"/>
                    </a:cubicBezTo>
                    <a:close/>
                  </a:path>
                </a:pathLst>
              </a:custGeom>
              <a:solidFill>
                <a:srgbClr val="5FAF9C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85725"/>
                <a:ext cx="113247" cy="1989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2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3356750"/>
              <a:ext cx="692157" cy="692157"/>
              <a:chOff x="0" y="0"/>
              <a:chExt cx="113247" cy="113247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13247" cy="113247"/>
              </a:xfrm>
              <a:custGeom>
                <a:avLst/>
                <a:gdLst/>
                <a:ahLst/>
                <a:cxnLst/>
                <a:rect r="r" b="b" t="t" l="l"/>
                <a:pathLst>
                  <a:path h="113247" w="113247">
                    <a:moveTo>
                      <a:pt x="56624" y="0"/>
                    </a:moveTo>
                    <a:lnTo>
                      <a:pt x="56624" y="0"/>
                    </a:lnTo>
                    <a:cubicBezTo>
                      <a:pt x="71641" y="0"/>
                      <a:pt x="86043" y="5966"/>
                      <a:pt x="96662" y="16585"/>
                    </a:cubicBezTo>
                    <a:cubicBezTo>
                      <a:pt x="107281" y="27204"/>
                      <a:pt x="113247" y="41606"/>
                      <a:pt x="113247" y="56624"/>
                    </a:cubicBezTo>
                    <a:lnTo>
                      <a:pt x="113247" y="56624"/>
                    </a:lnTo>
                    <a:cubicBezTo>
                      <a:pt x="113247" y="87896"/>
                      <a:pt x="87896" y="113247"/>
                      <a:pt x="56624" y="113247"/>
                    </a:cubicBezTo>
                    <a:lnTo>
                      <a:pt x="56624" y="113247"/>
                    </a:lnTo>
                    <a:cubicBezTo>
                      <a:pt x="25351" y="113247"/>
                      <a:pt x="0" y="87896"/>
                      <a:pt x="0" y="56624"/>
                    </a:cubicBezTo>
                    <a:lnTo>
                      <a:pt x="0" y="56624"/>
                    </a:lnTo>
                    <a:cubicBezTo>
                      <a:pt x="0" y="25351"/>
                      <a:pt x="25351" y="0"/>
                      <a:pt x="56624" y="0"/>
                    </a:cubicBezTo>
                    <a:close/>
                  </a:path>
                </a:pathLst>
              </a:custGeom>
              <a:solidFill>
                <a:srgbClr val="5FAF9C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85725"/>
                <a:ext cx="113247" cy="1989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2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0" y="4202233"/>
              <a:ext cx="692157" cy="692157"/>
              <a:chOff x="0" y="0"/>
              <a:chExt cx="113247" cy="113247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13247" cy="113247"/>
              </a:xfrm>
              <a:custGeom>
                <a:avLst/>
                <a:gdLst/>
                <a:ahLst/>
                <a:cxnLst/>
                <a:rect r="r" b="b" t="t" l="l"/>
                <a:pathLst>
                  <a:path h="113247" w="113247">
                    <a:moveTo>
                      <a:pt x="56624" y="0"/>
                    </a:moveTo>
                    <a:lnTo>
                      <a:pt x="56624" y="0"/>
                    </a:lnTo>
                    <a:cubicBezTo>
                      <a:pt x="71641" y="0"/>
                      <a:pt x="86043" y="5966"/>
                      <a:pt x="96662" y="16585"/>
                    </a:cubicBezTo>
                    <a:cubicBezTo>
                      <a:pt x="107281" y="27204"/>
                      <a:pt x="113247" y="41606"/>
                      <a:pt x="113247" y="56624"/>
                    </a:cubicBezTo>
                    <a:lnTo>
                      <a:pt x="113247" y="56624"/>
                    </a:lnTo>
                    <a:cubicBezTo>
                      <a:pt x="113247" y="87896"/>
                      <a:pt x="87896" y="113247"/>
                      <a:pt x="56624" y="113247"/>
                    </a:cubicBezTo>
                    <a:lnTo>
                      <a:pt x="56624" y="113247"/>
                    </a:lnTo>
                    <a:cubicBezTo>
                      <a:pt x="25351" y="113247"/>
                      <a:pt x="0" y="87896"/>
                      <a:pt x="0" y="56624"/>
                    </a:cubicBezTo>
                    <a:lnTo>
                      <a:pt x="0" y="56624"/>
                    </a:lnTo>
                    <a:cubicBezTo>
                      <a:pt x="0" y="25351"/>
                      <a:pt x="25351" y="0"/>
                      <a:pt x="56624" y="0"/>
                    </a:cubicBezTo>
                    <a:close/>
                  </a:path>
                </a:pathLst>
              </a:custGeom>
              <a:solidFill>
                <a:srgbClr val="5FAF9C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85725"/>
                <a:ext cx="113247" cy="1989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2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0" y="5047716"/>
              <a:ext cx="692157" cy="692157"/>
              <a:chOff x="0" y="0"/>
              <a:chExt cx="113247" cy="11324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13247" cy="113247"/>
              </a:xfrm>
              <a:custGeom>
                <a:avLst/>
                <a:gdLst/>
                <a:ahLst/>
                <a:cxnLst/>
                <a:rect r="r" b="b" t="t" l="l"/>
                <a:pathLst>
                  <a:path h="113247" w="113247">
                    <a:moveTo>
                      <a:pt x="56624" y="0"/>
                    </a:moveTo>
                    <a:lnTo>
                      <a:pt x="56624" y="0"/>
                    </a:lnTo>
                    <a:cubicBezTo>
                      <a:pt x="71641" y="0"/>
                      <a:pt x="86043" y="5966"/>
                      <a:pt x="96662" y="16585"/>
                    </a:cubicBezTo>
                    <a:cubicBezTo>
                      <a:pt x="107281" y="27204"/>
                      <a:pt x="113247" y="41606"/>
                      <a:pt x="113247" y="56624"/>
                    </a:cubicBezTo>
                    <a:lnTo>
                      <a:pt x="113247" y="56624"/>
                    </a:lnTo>
                    <a:cubicBezTo>
                      <a:pt x="113247" y="87896"/>
                      <a:pt x="87896" y="113247"/>
                      <a:pt x="56624" y="113247"/>
                    </a:cubicBezTo>
                    <a:lnTo>
                      <a:pt x="56624" y="113247"/>
                    </a:lnTo>
                    <a:cubicBezTo>
                      <a:pt x="25351" y="113247"/>
                      <a:pt x="0" y="87896"/>
                      <a:pt x="0" y="56624"/>
                    </a:cubicBezTo>
                    <a:lnTo>
                      <a:pt x="0" y="56624"/>
                    </a:lnTo>
                    <a:cubicBezTo>
                      <a:pt x="0" y="25351"/>
                      <a:pt x="25351" y="0"/>
                      <a:pt x="56624" y="0"/>
                    </a:cubicBezTo>
                    <a:close/>
                  </a:path>
                </a:pathLst>
              </a:custGeom>
              <a:solidFill>
                <a:srgbClr val="5FAF9C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85725"/>
                <a:ext cx="113247" cy="1989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2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0" y="5893199"/>
              <a:ext cx="692157" cy="692157"/>
              <a:chOff x="0" y="0"/>
              <a:chExt cx="113247" cy="113247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13247" cy="113247"/>
              </a:xfrm>
              <a:custGeom>
                <a:avLst/>
                <a:gdLst/>
                <a:ahLst/>
                <a:cxnLst/>
                <a:rect r="r" b="b" t="t" l="l"/>
                <a:pathLst>
                  <a:path h="113247" w="113247">
                    <a:moveTo>
                      <a:pt x="56624" y="0"/>
                    </a:moveTo>
                    <a:lnTo>
                      <a:pt x="56624" y="0"/>
                    </a:lnTo>
                    <a:cubicBezTo>
                      <a:pt x="71641" y="0"/>
                      <a:pt x="86043" y="5966"/>
                      <a:pt x="96662" y="16585"/>
                    </a:cubicBezTo>
                    <a:cubicBezTo>
                      <a:pt x="107281" y="27204"/>
                      <a:pt x="113247" y="41606"/>
                      <a:pt x="113247" y="56624"/>
                    </a:cubicBezTo>
                    <a:lnTo>
                      <a:pt x="113247" y="56624"/>
                    </a:lnTo>
                    <a:cubicBezTo>
                      <a:pt x="113247" y="87896"/>
                      <a:pt x="87896" y="113247"/>
                      <a:pt x="56624" y="113247"/>
                    </a:cubicBezTo>
                    <a:lnTo>
                      <a:pt x="56624" y="113247"/>
                    </a:lnTo>
                    <a:cubicBezTo>
                      <a:pt x="25351" y="113247"/>
                      <a:pt x="0" y="87896"/>
                      <a:pt x="0" y="56624"/>
                    </a:cubicBezTo>
                    <a:lnTo>
                      <a:pt x="0" y="56624"/>
                    </a:lnTo>
                    <a:cubicBezTo>
                      <a:pt x="0" y="25351"/>
                      <a:pt x="25351" y="0"/>
                      <a:pt x="56624" y="0"/>
                    </a:cubicBezTo>
                    <a:close/>
                  </a:path>
                </a:pathLst>
              </a:custGeom>
              <a:solidFill>
                <a:srgbClr val="5FAF9C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85725"/>
                <a:ext cx="113247" cy="1989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2"/>
                  </a:lnSpc>
                </a:pPr>
              </a:p>
            </p:txBody>
          </p:sp>
        </p:grpSp>
        <p:sp>
          <p:nvSpPr>
            <p:cNvPr name="Freeform 31" id="31"/>
            <p:cNvSpPr/>
            <p:nvPr/>
          </p:nvSpPr>
          <p:spPr>
            <a:xfrm flipH="false" flipV="false" rot="0">
              <a:off x="65693" y="102143"/>
              <a:ext cx="560770" cy="487870"/>
            </a:xfrm>
            <a:custGeom>
              <a:avLst/>
              <a:gdLst/>
              <a:ahLst/>
              <a:cxnLst/>
              <a:rect r="r" b="b" t="t" l="l"/>
              <a:pathLst>
                <a:path h="487870" w="560770">
                  <a:moveTo>
                    <a:pt x="0" y="0"/>
                  </a:moveTo>
                  <a:lnTo>
                    <a:pt x="560771" y="0"/>
                  </a:lnTo>
                  <a:lnTo>
                    <a:pt x="560771" y="487871"/>
                  </a:lnTo>
                  <a:lnTo>
                    <a:pt x="0" y="487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 rot="0">
              <a:off x="993503" y="-95250"/>
              <a:ext cx="10824208" cy="75622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70"/>
                </a:lnSpc>
              </a:pPr>
              <a:r>
                <a:rPr lang="en-US" sz="362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Plataforma migrada exitosamente</a:t>
              </a:r>
            </a:p>
            <a:p>
              <a:pPr algn="l">
                <a:lnSpc>
                  <a:spcPts val="5070"/>
                </a:lnSpc>
              </a:pPr>
              <a:r>
                <a:rPr lang="en-US" sz="362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ECS Fargate</a:t>
              </a:r>
            </a:p>
            <a:p>
              <a:pPr algn="l">
                <a:lnSpc>
                  <a:spcPts val="5070"/>
                </a:lnSpc>
              </a:pPr>
              <a:r>
                <a:rPr lang="en-US" sz="362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CI/CD automático</a:t>
              </a:r>
            </a:p>
            <a:p>
              <a:pPr algn="l">
                <a:lnSpc>
                  <a:spcPts val="5070"/>
                </a:lnSpc>
              </a:pPr>
              <a:r>
                <a:rPr lang="en-US" sz="362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Balanceador</a:t>
              </a:r>
            </a:p>
            <a:p>
              <a:pPr algn="l">
                <a:lnSpc>
                  <a:spcPts val="5070"/>
                </a:lnSpc>
              </a:pPr>
              <a:r>
                <a:rPr lang="en-US" sz="362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Autoscaling</a:t>
              </a:r>
            </a:p>
            <a:p>
              <a:pPr algn="l">
                <a:lnSpc>
                  <a:spcPts val="5070"/>
                </a:lnSpc>
              </a:pPr>
              <a:r>
                <a:rPr lang="en-US" sz="362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CloudWatch</a:t>
              </a:r>
            </a:p>
            <a:p>
              <a:pPr algn="l">
                <a:lnSpc>
                  <a:spcPts val="5070"/>
                </a:lnSpc>
              </a:pPr>
              <a:r>
                <a:rPr lang="en-US" sz="362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Service Connect</a:t>
              </a:r>
            </a:p>
            <a:p>
              <a:pPr algn="l">
                <a:lnSpc>
                  <a:spcPts val="5070"/>
                </a:lnSpc>
              </a:pPr>
              <a:r>
                <a:rPr lang="en-US" sz="362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Arquitectura preparada para producción</a:t>
              </a:r>
            </a:p>
          </p:txBody>
        </p:sp>
        <p:sp>
          <p:nvSpPr>
            <p:cNvPr name="Freeform 33" id="33"/>
            <p:cNvSpPr/>
            <p:nvPr/>
          </p:nvSpPr>
          <p:spPr>
            <a:xfrm flipH="false" flipV="false" rot="0">
              <a:off x="65693" y="934881"/>
              <a:ext cx="560770" cy="487870"/>
            </a:xfrm>
            <a:custGeom>
              <a:avLst/>
              <a:gdLst/>
              <a:ahLst/>
              <a:cxnLst/>
              <a:rect r="r" b="b" t="t" l="l"/>
              <a:pathLst>
                <a:path h="487870" w="560770">
                  <a:moveTo>
                    <a:pt x="0" y="0"/>
                  </a:moveTo>
                  <a:lnTo>
                    <a:pt x="560771" y="0"/>
                  </a:lnTo>
                  <a:lnTo>
                    <a:pt x="560771" y="487870"/>
                  </a:lnTo>
                  <a:lnTo>
                    <a:pt x="0" y="4878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65693" y="1774146"/>
              <a:ext cx="560770" cy="487870"/>
            </a:xfrm>
            <a:custGeom>
              <a:avLst/>
              <a:gdLst/>
              <a:ahLst/>
              <a:cxnLst/>
              <a:rect r="r" b="b" t="t" l="l"/>
              <a:pathLst>
                <a:path h="487870" w="560770">
                  <a:moveTo>
                    <a:pt x="0" y="0"/>
                  </a:moveTo>
                  <a:lnTo>
                    <a:pt x="560771" y="0"/>
                  </a:lnTo>
                  <a:lnTo>
                    <a:pt x="560771" y="487870"/>
                  </a:lnTo>
                  <a:lnTo>
                    <a:pt x="0" y="4878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65693" y="2616519"/>
              <a:ext cx="560770" cy="487870"/>
            </a:xfrm>
            <a:custGeom>
              <a:avLst/>
              <a:gdLst/>
              <a:ahLst/>
              <a:cxnLst/>
              <a:rect r="r" b="b" t="t" l="l"/>
              <a:pathLst>
                <a:path h="487870" w="560770">
                  <a:moveTo>
                    <a:pt x="0" y="0"/>
                  </a:moveTo>
                  <a:lnTo>
                    <a:pt x="560771" y="0"/>
                  </a:lnTo>
                  <a:lnTo>
                    <a:pt x="560771" y="487871"/>
                  </a:lnTo>
                  <a:lnTo>
                    <a:pt x="0" y="487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65693" y="3458893"/>
              <a:ext cx="560770" cy="487870"/>
            </a:xfrm>
            <a:custGeom>
              <a:avLst/>
              <a:gdLst/>
              <a:ahLst/>
              <a:cxnLst/>
              <a:rect r="r" b="b" t="t" l="l"/>
              <a:pathLst>
                <a:path h="487870" w="560770">
                  <a:moveTo>
                    <a:pt x="0" y="0"/>
                  </a:moveTo>
                  <a:lnTo>
                    <a:pt x="560771" y="0"/>
                  </a:lnTo>
                  <a:lnTo>
                    <a:pt x="560771" y="487871"/>
                  </a:lnTo>
                  <a:lnTo>
                    <a:pt x="0" y="487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65693" y="4304376"/>
              <a:ext cx="560770" cy="487870"/>
            </a:xfrm>
            <a:custGeom>
              <a:avLst/>
              <a:gdLst/>
              <a:ahLst/>
              <a:cxnLst/>
              <a:rect r="r" b="b" t="t" l="l"/>
              <a:pathLst>
                <a:path h="487870" w="560770">
                  <a:moveTo>
                    <a:pt x="0" y="0"/>
                  </a:moveTo>
                  <a:lnTo>
                    <a:pt x="560771" y="0"/>
                  </a:lnTo>
                  <a:lnTo>
                    <a:pt x="560771" y="487871"/>
                  </a:lnTo>
                  <a:lnTo>
                    <a:pt x="0" y="487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65693" y="5149859"/>
              <a:ext cx="560770" cy="487870"/>
            </a:xfrm>
            <a:custGeom>
              <a:avLst/>
              <a:gdLst/>
              <a:ahLst/>
              <a:cxnLst/>
              <a:rect r="r" b="b" t="t" l="l"/>
              <a:pathLst>
                <a:path h="487870" w="560770">
                  <a:moveTo>
                    <a:pt x="0" y="0"/>
                  </a:moveTo>
                  <a:lnTo>
                    <a:pt x="560771" y="0"/>
                  </a:lnTo>
                  <a:lnTo>
                    <a:pt x="560771" y="487871"/>
                  </a:lnTo>
                  <a:lnTo>
                    <a:pt x="0" y="487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65693" y="5995342"/>
              <a:ext cx="560770" cy="487870"/>
            </a:xfrm>
            <a:custGeom>
              <a:avLst/>
              <a:gdLst/>
              <a:ahLst/>
              <a:cxnLst/>
              <a:rect r="r" b="b" t="t" l="l"/>
              <a:pathLst>
                <a:path h="487870" w="560770">
                  <a:moveTo>
                    <a:pt x="0" y="0"/>
                  </a:moveTo>
                  <a:lnTo>
                    <a:pt x="560771" y="0"/>
                  </a:lnTo>
                  <a:lnTo>
                    <a:pt x="560771" y="487871"/>
                  </a:lnTo>
                  <a:lnTo>
                    <a:pt x="0" y="487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8300216" y="1599392"/>
            <a:ext cx="8863283" cy="1301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99"/>
              </a:lnSpc>
            </a:pPr>
            <a:r>
              <a:rPr lang="en-US" b="true" sz="9999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CONCLUSIONES</a:t>
            </a:r>
          </a:p>
        </p:txBody>
      </p:sp>
    </p:spTree>
  </p:cSld>
  <p:clrMapOvr>
    <a:masterClrMapping/>
  </p:clrMapOvr>
  <p:transition spd="slow">
    <p:push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1827965" y="-2292047"/>
            <a:ext cx="9225459" cy="6105576"/>
          </a:xfrm>
          <a:custGeom>
            <a:avLst/>
            <a:gdLst/>
            <a:ahLst/>
            <a:cxnLst/>
            <a:rect r="r" b="b" t="t" l="l"/>
            <a:pathLst>
              <a:path h="6105576" w="9225459">
                <a:moveTo>
                  <a:pt x="9225459" y="0"/>
                </a:moveTo>
                <a:lnTo>
                  <a:pt x="0" y="0"/>
                </a:lnTo>
                <a:lnTo>
                  <a:pt x="0" y="6105577"/>
                </a:lnTo>
                <a:lnTo>
                  <a:pt x="9225459" y="6105577"/>
                </a:lnTo>
                <a:lnTo>
                  <a:pt x="922545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2699521" y="7046525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470218" y="3463439"/>
            <a:ext cx="13347563" cy="3360123"/>
            <a:chOff x="0" y="0"/>
            <a:chExt cx="17796751" cy="4480164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314325"/>
              <a:ext cx="17796751" cy="2546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13675"/>
                </a:lnSpc>
                <a:spcBef>
                  <a:spcPct val="0"/>
                </a:spcBef>
              </a:pPr>
              <a:r>
                <a:rPr lang="en-US" b="true" sz="14098">
                  <a:solidFill>
                    <a:srgbClr val="2F6F91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MUCHAS GRACIAS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041465"/>
              <a:ext cx="17796751" cy="14386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7760"/>
                </a:lnSpc>
                <a:spcBef>
                  <a:spcPct val="0"/>
                </a:spcBef>
              </a:pPr>
              <a:r>
                <a:rPr lang="en-US" b="true" sz="8000">
                  <a:solidFill>
                    <a:srgbClr val="6B7280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¿Preguntas?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DAHOTbxn9sc</dc:identifier>
  <dcterms:modified xsi:type="dcterms:W3CDTF">2011-08-01T06:04:30Z</dcterms:modified>
  <cp:revision>1</cp:revision>
  <dc:title>Evaluación Parcial N°3</dc:title>
</cp:coreProperties>
</file>